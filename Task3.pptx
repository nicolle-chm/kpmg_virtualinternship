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64" r:id="rId4"/>
    <p:sldId id="258" r:id="rId5"/>
    <p:sldId id="269" r:id="rId6"/>
    <p:sldId id="267" r:id="rId7"/>
    <p:sldId id="273" r:id="rId8"/>
    <p:sldId id="272" r:id="rId9"/>
    <p:sldId id="260" r:id="rId10"/>
    <p:sldId id="274" r:id="rId11"/>
    <p:sldId id="265" r:id="rId12"/>
    <p:sldId id="277" r:id="rId13"/>
    <p:sldId id="266" r:id="rId14"/>
    <p:sldId id="276" r:id="rId15"/>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73CA"/>
    <a:srgbClr val="0D55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340" y="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a:spLocks noGrp="1"/>
          </p:cNvSpPr>
          <p:nvPr>
            <p:ph type="title"/>
          </p:nvPr>
        </p:nvSpPr>
        <p:spPr>
          <a:prstGeom prst="rect">
            <a:avLst/>
          </a:prstGeom>
        </p:spPr>
        <p:txBody>
          <a:bodyPr/>
          <a:lstStyle/>
          <a:p>
            <a:r>
              <a:t>Title Text</a:t>
            </a:r>
          </a:p>
        </p:txBody>
      </p:sp>
      <p:sp>
        <p:nvSpPr>
          <p:cNvPr id="29"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a:spLocks noGrp="1"/>
          </p:cNvSpPr>
          <p:nvPr>
            <p:ph type="title"/>
          </p:nvPr>
        </p:nvSpPr>
        <p:spPr>
          <a:prstGeom prst="rect">
            <a:avLst/>
          </a:prstGeom>
        </p:spPr>
        <p:txBody>
          <a:bodyPr/>
          <a:lstStyle/>
          <a:p>
            <a:r>
              <a:t>Title Text</a:t>
            </a:r>
          </a:p>
        </p:txBody>
      </p:sp>
      <p:sp>
        <p:nvSpPr>
          <p:cNvPr id="38" name="Body Level One…"/>
          <p:cNvSpPr>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Shape 23"/>
          <p:cNvSpPr>
            <a:spLocks noGrp="1"/>
          </p:cNvSpPr>
          <p:nvPr>
            <p:ph type="body" sz="half" idx="13"/>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a:spLocks noGrp="1"/>
          </p:cNvSpPr>
          <p:nvPr>
            <p:ph type="title"/>
          </p:nvPr>
        </p:nvSpPr>
        <p:spPr>
          <a:prstGeom prst="rect">
            <a:avLst/>
          </a:prstGeom>
        </p:spPr>
        <p:txBody>
          <a:bodyPr/>
          <a:lstStyle/>
          <a:p>
            <a:r>
              <a:t>Title Text</a:t>
            </a:r>
          </a:p>
        </p:txBody>
      </p:sp>
      <p:sp>
        <p:nvSpPr>
          <p:cNvPr id="48"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Shape 36"/>
          <p:cNvSpPr/>
          <p:nvPr/>
        </p:nvSpPr>
        <p:spPr>
          <a:xfrm>
            <a:off x="4572000" y="-125"/>
            <a:ext cx="4572000" cy="5143501"/>
          </a:xfrm>
          <a:prstGeom prst="rect">
            <a:avLst/>
          </a:prstGeom>
          <a:solidFill>
            <a:srgbClr val="EEEEEE"/>
          </a:solidFill>
          <a:ln w="12700">
            <a:miter lim="400000"/>
          </a:ln>
        </p:spPr>
        <p:txBody>
          <a:bodyPr lIns="45719" rIns="45719" anchor="ctr"/>
          <a:lstStyle/>
          <a:p>
            <a:endParaRPr/>
          </a:p>
        </p:txBody>
      </p:sp>
      <p:sp>
        <p:nvSpPr>
          <p:cNvPr id="73" name="Title Text"/>
          <p:cNvSpPr>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Shape 39"/>
          <p:cNvSpPr>
            <a:spLocks noGrp="1"/>
          </p:cNvSpPr>
          <p:nvPr>
            <p:ph type="body" sz="half" idx="13"/>
          </p:nvPr>
        </p:nvSpPr>
        <p:spPr>
          <a:xfrm>
            <a:off x="4939500" y="724074"/>
            <a:ext cx="3837000" cy="3695102"/>
          </a:xfrm>
          <a:prstGeom prst="rect">
            <a:avLst/>
          </a:prstGeom>
        </p:spPr>
        <p:txBody>
          <a:bodyPr anchor="ctr"/>
          <a:lstStyle/>
          <a:p>
            <a:endParaRPr/>
          </a:p>
        </p:txBody>
      </p:sp>
      <p:sp>
        <p:nvSpPr>
          <p:cNvPr id="76"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Title Text"/>
          <p:cNvSpPr>
            <a:spLocks noGrp="1"/>
          </p:cNvSpPr>
          <p:nvPr>
            <p:ph type="title"/>
          </p:nvPr>
        </p:nvSpPr>
        <p:spPr>
          <a:xfrm>
            <a:off x="311699" y="1106125"/>
            <a:ext cx="8520602" cy="1963500"/>
          </a:xfrm>
          <a:prstGeom prst="rect">
            <a:avLst/>
          </a:prstGeom>
        </p:spPr>
        <p:txBody>
          <a:bodyPr anchor="b"/>
          <a:lstStyle>
            <a:lvl1pPr algn="ctr">
              <a:defRPr sz="12000"/>
            </a:lvl1pPr>
          </a:lstStyle>
          <a:p>
            <a:r>
              <a:t>Title Text</a:t>
            </a:r>
          </a:p>
        </p:txBody>
      </p:sp>
      <p:sp>
        <p:nvSpPr>
          <p:cNvPr id="92" name="Body Level One…"/>
          <p:cNvSpPr>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311699" y="445025"/>
            <a:ext cx="8520602" cy="57270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Title Text</a:t>
            </a:r>
          </a:p>
        </p:txBody>
      </p:sp>
      <p:sp>
        <p:nvSpPr>
          <p:cNvPr id="3" name="Body Level One…"/>
          <p:cNvSpPr>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ln>
            <a:noFill/>
          </a:ln>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ln>
            <a:noFill/>
          </a:ln>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54"/>
          <p:cNvSpPr/>
          <p:nvPr/>
        </p:nvSpPr>
        <p:spPr>
          <a:xfrm rot="10800000" flipH="1">
            <a:off x="-1" y="0"/>
            <a:ext cx="9163201" cy="5148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6564" y="0"/>
                </a:lnTo>
                <a:lnTo>
                  <a:pt x="21600" y="8964"/>
                </a:lnTo>
                <a:lnTo>
                  <a:pt x="21600" y="21600"/>
                </a:lnTo>
                <a:lnTo>
                  <a:pt x="0" y="21600"/>
                </a:lnTo>
                <a:close/>
              </a:path>
            </a:pathLst>
          </a:custGeom>
          <a:gradFill>
            <a:gsLst>
              <a:gs pos="0">
                <a:srgbClr val="1077D2"/>
              </a:gs>
              <a:gs pos="100000">
                <a:srgbClr val="093153"/>
              </a:gs>
            </a:gsLst>
            <a:lin ang="12000143"/>
          </a:gradFill>
          <a:ln w="12700">
            <a:miter lim="400000"/>
          </a:ln>
        </p:spPr>
        <p:txBody>
          <a:bodyPr lIns="45719" rIns="45719" anchor="ctr"/>
          <a:lstStyle/>
          <a:p>
            <a:endParaRPr dirty="0"/>
          </a:p>
        </p:txBody>
      </p:sp>
      <p:sp>
        <p:nvSpPr>
          <p:cNvPr id="110" name="Shape 55"/>
          <p:cNvSpPr/>
          <p:nvPr/>
        </p:nvSpPr>
        <p:spPr>
          <a:xfrm>
            <a:off x="537899" y="1895175"/>
            <a:ext cx="3953102" cy="13766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3500">
                <a:solidFill>
                  <a:srgbClr val="FFFFFF"/>
                </a:solidFill>
                <a:latin typeface="Open Sans Extrabold"/>
                <a:ea typeface="Open Sans Extrabold"/>
                <a:cs typeface="Open Sans Extrabold"/>
                <a:sym typeface="Open Sans Extrabold"/>
              </a:defRPr>
            </a:lvl1pPr>
          </a:lstStyle>
          <a:p>
            <a:r>
              <a:rPr dirty="0"/>
              <a:t>Sprocket Central Pty Ltd</a:t>
            </a:r>
          </a:p>
        </p:txBody>
      </p:sp>
      <p:sp>
        <p:nvSpPr>
          <p:cNvPr id="111" name="Shape 56"/>
          <p:cNvSpPr/>
          <p:nvPr/>
        </p:nvSpPr>
        <p:spPr>
          <a:xfrm>
            <a:off x="537900" y="3315475"/>
            <a:ext cx="5550600" cy="5257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a:solidFill>
                  <a:srgbClr val="FFFFFF"/>
                </a:solidFill>
                <a:latin typeface="Open Sans Light"/>
                <a:ea typeface="Open Sans Light"/>
                <a:cs typeface="Open Sans Light"/>
                <a:sym typeface="Open Sans Light"/>
              </a:defRPr>
            </a:lvl1pPr>
          </a:lstStyle>
          <a:p>
            <a:r>
              <a:t>Data analytics approach</a:t>
            </a:r>
          </a:p>
        </p:txBody>
      </p:sp>
      <p:pic>
        <p:nvPicPr>
          <p:cNvPr id="112" name="Shape 57" descr="Shape 57"/>
          <p:cNvPicPr>
            <a:picLocks noChangeAspect="1"/>
          </p:cNvPicPr>
          <p:nvPr/>
        </p:nvPicPr>
        <p:blipFill>
          <a:blip r:embed="rId2"/>
          <a:stretch>
            <a:fillRect/>
          </a:stretch>
        </p:blipFill>
        <p:spPr>
          <a:xfrm>
            <a:off x="614100" y="1275524"/>
            <a:ext cx="1982300" cy="238701"/>
          </a:xfrm>
          <a:prstGeom prst="rect">
            <a:avLst/>
          </a:prstGeom>
          <a:ln w="12700">
            <a:miter lim="400000"/>
          </a:ln>
        </p:spPr>
      </p:pic>
      <p:sp>
        <p:nvSpPr>
          <p:cNvPr id="113" name="Shape 58"/>
          <p:cNvSpPr/>
          <p:nvPr/>
        </p:nvSpPr>
        <p:spPr>
          <a:xfrm>
            <a:off x="537900" y="3666599"/>
            <a:ext cx="6249600" cy="36930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1200">
                <a:solidFill>
                  <a:srgbClr val="FFFFFF"/>
                </a:solidFill>
                <a:latin typeface="Open Sans Light"/>
                <a:ea typeface="Open Sans Light"/>
                <a:cs typeface="Open Sans Light"/>
                <a:sym typeface="Open Sans Light"/>
              </a:defRPr>
            </a:lvl1pPr>
          </a:lstStyle>
          <a:p>
            <a:r>
              <a:rPr lang="en-GB" dirty="0"/>
              <a:t>Analyst Division </a:t>
            </a:r>
            <a:r>
              <a:rPr dirty="0"/>
              <a:t>- Junior Consultant</a:t>
            </a:r>
            <a:r>
              <a:rPr lang="en-GB" dirty="0"/>
              <a:t> – Nicolle Chuquilin</a:t>
            </a:r>
            <a:endParaRPr dirty="0"/>
          </a:p>
        </p:txBody>
      </p:sp>
      <p:sp>
        <p:nvSpPr>
          <p:cNvPr id="114"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63"/>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17" name="Shape 64"/>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Agenda</a:t>
            </a:r>
          </a:p>
        </p:txBody>
      </p:sp>
      <p:sp>
        <p:nvSpPr>
          <p:cNvPr id="118" name="Shape 65"/>
          <p:cNvSpPr/>
          <p:nvPr/>
        </p:nvSpPr>
        <p:spPr>
          <a:xfrm>
            <a:off x="343874" y="1211200"/>
            <a:ext cx="5459402" cy="1708756"/>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p>
            <a:pPr marL="457200" indent="-355600">
              <a:lnSpc>
                <a:spcPct val="115000"/>
              </a:lnSpc>
              <a:buClr>
                <a:srgbClr val="000000"/>
              </a:buClr>
              <a:buSzPts val="2000"/>
              <a:buAutoNum type="arabicPeriod"/>
              <a:defRPr sz="2000">
                <a:latin typeface="Open Sans"/>
                <a:ea typeface="Open Sans"/>
                <a:cs typeface="Open Sans"/>
                <a:sym typeface="Open Sans"/>
              </a:defRPr>
            </a:pPr>
            <a:r>
              <a:t>Introduction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Data Exploration</a:t>
            </a:r>
          </a:p>
          <a:p>
            <a:pPr marL="457200" indent="-355600">
              <a:lnSpc>
                <a:spcPct val="115000"/>
              </a:lnSpc>
              <a:buClr>
                <a:srgbClr val="000000"/>
              </a:buClr>
              <a:buSzPts val="2000"/>
              <a:buAutoNum type="arabicPeriod"/>
              <a:defRPr sz="2000">
                <a:latin typeface="Open Sans"/>
                <a:ea typeface="Open Sans"/>
                <a:cs typeface="Open Sans"/>
                <a:sym typeface="Open Sans"/>
              </a:defRPr>
            </a:pPr>
            <a:r>
              <a:t>Model Development</a:t>
            </a:r>
          </a:p>
          <a:p>
            <a:pPr marL="457200" indent="-355600">
              <a:lnSpc>
                <a:spcPct val="115000"/>
              </a:lnSpc>
              <a:buClr>
                <a:srgbClr val="000000"/>
              </a:buClr>
              <a:buSzPts val="2000"/>
              <a:buAutoNum type="arabicPeriod"/>
              <a:defRPr sz="2000">
                <a:latin typeface="Open Sans"/>
                <a:ea typeface="Open Sans"/>
                <a:cs typeface="Open Sans"/>
                <a:sym typeface="Open Sans"/>
              </a:defRPr>
            </a:pPr>
            <a:r>
              <a:t>Interpretation</a:t>
            </a:r>
          </a:p>
        </p:txBody>
      </p:sp>
      <p:sp>
        <p:nvSpPr>
          <p:cNvPr id="119"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Introduction</a:t>
            </a:r>
          </a:p>
        </p:txBody>
      </p:sp>
      <p:sp>
        <p:nvSpPr>
          <p:cNvPr id="123" name="Shape 72"/>
          <p:cNvSpPr/>
          <p:nvPr/>
        </p:nvSpPr>
        <p:spPr>
          <a:xfrm>
            <a:off x="205025" y="108329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4" name="Shape 73"/>
          <p:cNvSpPr/>
          <p:nvPr/>
        </p:nvSpPr>
        <p:spPr>
          <a:xfrm>
            <a:off x="335652" y="2217498"/>
            <a:ext cx="5192547" cy="2557014"/>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r>
              <a:rPr lang="en-GB" dirty="0"/>
              <a:t>Employed RFM </a:t>
            </a:r>
            <a:r>
              <a:rPr lang="en-GB" dirty="0" err="1"/>
              <a:t>Plu</a:t>
            </a:r>
            <a:r>
              <a:rPr lang="en-GB" dirty="0"/>
              <a:t>, K-means and K-</a:t>
            </a:r>
            <a:r>
              <a:rPr lang="en-GB" dirty="0" err="1"/>
              <a:t>Meloids</a:t>
            </a:r>
            <a:r>
              <a:rPr lang="en-GB" dirty="0"/>
              <a:t> clustering to segment customers based on their:</a:t>
            </a:r>
          </a:p>
          <a:p>
            <a:endParaRPr lang="en-GB" dirty="0"/>
          </a:p>
          <a:p>
            <a:r>
              <a:rPr lang="en-GB" dirty="0"/>
              <a:t>- Monetary value</a:t>
            </a:r>
          </a:p>
          <a:p>
            <a:r>
              <a:rPr lang="en-GB" dirty="0"/>
              <a:t>- Recency</a:t>
            </a:r>
          </a:p>
          <a:p>
            <a:r>
              <a:rPr lang="en-GB" dirty="0"/>
              <a:t>- Frequency</a:t>
            </a:r>
          </a:p>
          <a:p>
            <a:r>
              <a:rPr lang="en-GB" dirty="0"/>
              <a:t>- Product Margin purchase (How much margin profit do the products consumers buy generate? Do they tend to buy high or low-profitable goods?)</a:t>
            </a:r>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6" name="Shape 81">
            <a:extLst>
              <a:ext uri="{FF2B5EF4-FFF2-40B4-BE49-F238E27FC236}">
                <a16:creationId xmlns:a16="http://schemas.microsoft.com/office/drawing/2014/main" id="{561B52CA-C7F1-C968-B0AA-D231F407C24C}"/>
              </a:ext>
            </a:extLst>
          </p:cNvPr>
          <p:cNvSpPr/>
          <p:nvPr/>
        </p:nvSpPr>
        <p:spPr>
          <a:xfrm>
            <a:off x="373375" y="1083299"/>
            <a:ext cx="8565600" cy="871425"/>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GB" dirty="0"/>
              <a:t>Objective: </a:t>
            </a:r>
            <a:r>
              <a:rPr lang="en-GB" b="0" i="0" dirty="0">
                <a:solidFill>
                  <a:srgbClr val="000000"/>
                </a:solidFill>
                <a:effectLst/>
                <a:latin typeface="DM Sans" panose="020F0502020204030204" pitchFamily="2" charset="0"/>
              </a:rPr>
              <a:t>reveal useful customer insights to optimise resource allocation for targeted marketing</a:t>
            </a:r>
            <a:endParaRPr dirty="0"/>
          </a:p>
        </p:txBody>
      </p:sp>
      <p:sp>
        <p:nvSpPr>
          <p:cNvPr id="4" name="Rectangle 3">
            <a:extLst>
              <a:ext uri="{FF2B5EF4-FFF2-40B4-BE49-F238E27FC236}">
                <a16:creationId xmlns:a16="http://schemas.microsoft.com/office/drawing/2014/main" id="{403655EE-A2A1-EE65-5B64-010F8F253525}"/>
              </a:ext>
            </a:extLst>
          </p:cNvPr>
          <p:cNvSpPr/>
          <p:nvPr/>
        </p:nvSpPr>
        <p:spPr>
          <a:xfrm>
            <a:off x="6609805" y="2891159"/>
            <a:ext cx="1881051" cy="738662"/>
          </a:xfrm>
          <a:prstGeom prst="rect">
            <a:avLst/>
          </a:prstGeom>
          <a:solidFill>
            <a:srgbClr val="FFFFFF"/>
          </a:solidFill>
          <a:ln w="25400" cap="flat">
            <a:solidFill>
              <a:srgbClr val="0070C0"/>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GB" b="0" i="0" u="none" strike="noStrike" cap="none" spc="0" normalizeH="0" baseline="0" dirty="0">
                <a:ln>
                  <a:noFill/>
                </a:ln>
                <a:solidFill>
                  <a:srgbClr val="000000"/>
                </a:solidFill>
                <a:effectLst/>
                <a:uFillTx/>
                <a:latin typeface="+mn-lt"/>
                <a:ea typeface="+mn-ea"/>
                <a:cs typeface="+mn-cs"/>
                <a:sym typeface="Arial"/>
              </a:rPr>
              <a:t> Get the profile of </a:t>
            </a:r>
            <a:r>
              <a:rPr kumimoji="0" lang="en-GB" b="1" i="0" u="none" strike="noStrike" cap="none" spc="0" normalizeH="0" baseline="0" dirty="0">
                <a:ln>
                  <a:noFill/>
                </a:ln>
                <a:solidFill>
                  <a:srgbClr val="000000"/>
                </a:solidFill>
                <a:effectLst/>
                <a:uFillTx/>
                <a:latin typeface="+mn-lt"/>
                <a:ea typeface="+mn-ea"/>
                <a:cs typeface="+mn-cs"/>
                <a:sym typeface="Arial"/>
              </a:rPr>
              <a:t>high-value customers</a:t>
            </a:r>
          </a:p>
        </p:txBody>
      </p:sp>
      <p:sp>
        <p:nvSpPr>
          <p:cNvPr id="2" name="Arrow: Right 1">
            <a:extLst>
              <a:ext uri="{FF2B5EF4-FFF2-40B4-BE49-F238E27FC236}">
                <a16:creationId xmlns:a16="http://schemas.microsoft.com/office/drawing/2014/main" id="{24227A1D-1C72-C331-02E5-CCC832F825F4}"/>
              </a:ext>
            </a:extLst>
          </p:cNvPr>
          <p:cNvSpPr/>
          <p:nvPr/>
        </p:nvSpPr>
        <p:spPr>
          <a:xfrm>
            <a:off x="5749718" y="2963711"/>
            <a:ext cx="481263" cy="593558"/>
          </a:xfrm>
          <a:prstGeom prst="rightArrow">
            <a:avLst/>
          </a:prstGeom>
          <a:ln>
            <a:solidFill>
              <a:srgbClr val="0D5594"/>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a:ln>
                <a:noFill/>
              </a:ln>
              <a:solidFill>
                <a:srgbClr val="000000"/>
              </a:solidFill>
              <a:effectLst/>
              <a:uFillTx/>
              <a:latin typeface="+mn-lt"/>
              <a:ea typeface="+mn-ea"/>
              <a:cs typeface="+mn-cs"/>
              <a:sym typeface="Arial"/>
            </a:endParaRPr>
          </a:p>
        </p:txBody>
      </p:sp>
    </p:spTree>
    <p:extLst>
      <p:ext uri="{BB962C8B-B14F-4D97-AF65-F5344CB8AC3E}">
        <p14:creationId xmlns:p14="http://schemas.microsoft.com/office/powerpoint/2010/main" val="90176366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dirty="0"/>
              <a:t>Data Exploration </a:t>
            </a:r>
            <a:endParaRPr dirty="0"/>
          </a:p>
        </p:txBody>
      </p:sp>
      <p:sp>
        <p:nvSpPr>
          <p:cNvPr id="123" name="Shape 72"/>
          <p:cNvSpPr/>
          <p:nvPr/>
        </p:nvSpPr>
        <p:spPr>
          <a:xfrm>
            <a:off x="-2952764" y="102385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4" name="Shape 81">
            <a:extLst>
              <a:ext uri="{FF2B5EF4-FFF2-40B4-BE49-F238E27FC236}">
                <a16:creationId xmlns:a16="http://schemas.microsoft.com/office/drawing/2014/main" id="{0E128082-BA0B-D964-C4AB-6A5F9BF2CCC6}"/>
              </a:ext>
            </a:extLst>
          </p:cNvPr>
          <p:cNvSpPr/>
          <p:nvPr/>
        </p:nvSpPr>
        <p:spPr>
          <a:xfrm>
            <a:off x="1224248" y="1090159"/>
            <a:ext cx="3091078" cy="45002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Which brand sells the most?</a:t>
            </a:r>
          </a:p>
        </p:txBody>
      </p:sp>
      <p:pic>
        <p:nvPicPr>
          <p:cNvPr id="5" name="Picture 4">
            <a:extLst>
              <a:ext uri="{FF2B5EF4-FFF2-40B4-BE49-F238E27FC236}">
                <a16:creationId xmlns:a16="http://schemas.microsoft.com/office/drawing/2014/main" id="{D086166C-39AF-7AF4-6892-EC64143278F7}"/>
              </a:ext>
            </a:extLst>
          </p:cNvPr>
          <p:cNvPicPr>
            <a:picLocks noChangeAspect="1"/>
          </p:cNvPicPr>
          <p:nvPr/>
        </p:nvPicPr>
        <p:blipFill>
          <a:blip r:embed="rId2"/>
          <a:stretch>
            <a:fillRect/>
          </a:stretch>
        </p:blipFill>
        <p:spPr>
          <a:xfrm>
            <a:off x="125172" y="1743520"/>
            <a:ext cx="4342746" cy="2932886"/>
          </a:xfrm>
          <a:prstGeom prst="rect">
            <a:avLst/>
          </a:prstGeom>
        </p:spPr>
      </p:pic>
      <p:pic>
        <p:nvPicPr>
          <p:cNvPr id="7" name="Picture 6">
            <a:extLst>
              <a:ext uri="{FF2B5EF4-FFF2-40B4-BE49-F238E27FC236}">
                <a16:creationId xmlns:a16="http://schemas.microsoft.com/office/drawing/2014/main" id="{963FAA5A-BF26-8C4C-F24D-35FBCCE0197C}"/>
              </a:ext>
            </a:extLst>
          </p:cNvPr>
          <p:cNvPicPr>
            <a:picLocks noChangeAspect="1"/>
          </p:cNvPicPr>
          <p:nvPr/>
        </p:nvPicPr>
        <p:blipFill>
          <a:blip r:embed="rId3"/>
          <a:stretch>
            <a:fillRect/>
          </a:stretch>
        </p:blipFill>
        <p:spPr>
          <a:xfrm>
            <a:off x="4838879" y="1798876"/>
            <a:ext cx="4048447" cy="2763870"/>
          </a:xfrm>
          <a:prstGeom prst="rect">
            <a:avLst/>
          </a:prstGeom>
        </p:spPr>
      </p:pic>
      <p:sp>
        <p:nvSpPr>
          <p:cNvPr id="8" name="Shape 81">
            <a:extLst>
              <a:ext uri="{FF2B5EF4-FFF2-40B4-BE49-F238E27FC236}">
                <a16:creationId xmlns:a16="http://schemas.microsoft.com/office/drawing/2014/main" id="{03A91CAF-BB49-677D-2C86-6900EFEBDC07}"/>
              </a:ext>
            </a:extLst>
          </p:cNvPr>
          <p:cNvSpPr/>
          <p:nvPr/>
        </p:nvSpPr>
        <p:spPr>
          <a:xfrm>
            <a:off x="5807823" y="1023859"/>
            <a:ext cx="2566733" cy="1016336"/>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Which brand generates the biggest profit?</a:t>
            </a:r>
          </a:p>
          <a:p>
            <a:endParaRPr lang="en-GB" sz="1600" dirty="0"/>
          </a:p>
        </p:txBody>
      </p:sp>
      <p:cxnSp>
        <p:nvCxnSpPr>
          <p:cNvPr id="11" name="Straight Connector 10">
            <a:extLst>
              <a:ext uri="{FF2B5EF4-FFF2-40B4-BE49-F238E27FC236}">
                <a16:creationId xmlns:a16="http://schemas.microsoft.com/office/drawing/2014/main" id="{55126E37-D8D0-C8A4-FE8C-24A072531B22}"/>
              </a:ext>
            </a:extLst>
          </p:cNvPr>
          <p:cNvCxnSpPr/>
          <p:nvPr/>
        </p:nvCxnSpPr>
        <p:spPr>
          <a:xfrm>
            <a:off x="4662905" y="925094"/>
            <a:ext cx="0" cy="3994485"/>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dirty="0"/>
              <a:t>Data Exploration </a:t>
            </a:r>
            <a:endParaRPr dirty="0"/>
          </a:p>
        </p:txBody>
      </p:sp>
      <p:sp>
        <p:nvSpPr>
          <p:cNvPr id="123" name="Shape 72"/>
          <p:cNvSpPr/>
          <p:nvPr/>
        </p:nvSpPr>
        <p:spPr>
          <a:xfrm>
            <a:off x="-2952764" y="102385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4" name="Shape 81">
            <a:extLst>
              <a:ext uri="{FF2B5EF4-FFF2-40B4-BE49-F238E27FC236}">
                <a16:creationId xmlns:a16="http://schemas.microsoft.com/office/drawing/2014/main" id="{0E128082-BA0B-D964-C4AB-6A5F9BF2CCC6}"/>
              </a:ext>
            </a:extLst>
          </p:cNvPr>
          <p:cNvSpPr/>
          <p:nvPr/>
        </p:nvSpPr>
        <p:spPr>
          <a:xfrm>
            <a:off x="2047742" y="959718"/>
            <a:ext cx="6246026" cy="45002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Age Distribution: Old Customers vs New Customers</a:t>
            </a:r>
          </a:p>
        </p:txBody>
      </p:sp>
      <p:pic>
        <p:nvPicPr>
          <p:cNvPr id="3" name="Picture 2">
            <a:extLst>
              <a:ext uri="{FF2B5EF4-FFF2-40B4-BE49-F238E27FC236}">
                <a16:creationId xmlns:a16="http://schemas.microsoft.com/office/drawing/2014/main" id="{28D2B3E9-ECC4-02D3-7132-C57C24D113FC}"/>
              </a:ext>
            </a:extLst>
          </p:cNvPr>
          <p:cNvPicPr>
            <a:picLocks noChangeAspect="1"/>
          </p:cNvPicPr>
          <p:nvPr/>
        </p:nvPicPr>
        <p:blipFill>
          <a:blip r:embed="rId2"/>
          <a:stretch>
            <a:fillRect/>
          </a:stretch>
        </p:blipFill>
        <p:spPr>
          <a:xfrm>
            <a:off x="1957137" y="1620196"/>
            <a:ext cx="5386608" cy="2983544"/>
          </a:xfrm>
          <a:prstGeom prst="rect">
            <a:avLst/>
          </a:prstGeom>
        </p:spPr>
      </p:pic>
      <p:sp>
        <p:nvSpPr>
          <p:cNvPr id="6" name="TextBox 5">
            <a:extLst>
              <a:ext uri="{FF2B5EF4-FFF2-40B4-BE49-F238E27FC236}">
                <a16:creationId xmlns:a16="http://schemas.microsoft.com/office/drawing/2014/main" id="{5D93DC07-E099-59C3-F651-81CFAD36CDFD}"/>
              </a:ext>
            </a:extLst>
          </p:cNvPr>
          <p:cNvSpPr txBox="1"/>
          <p:nvPr/>
        </p:nvSpPr>
        <p:spPr>
          <a:xfrm>
            <a:off x="174765" y="2649536"/>
            <a:ext cx="16844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GB" sz="1400" i="0" u="none" strike="noStrike" cap="none" spc="0" normalizeH="0" baseline="0" dirty="0">
                <a:ln>
                  <a:noFill/>
                </a:ln>
                <a:solidFill>
                  <a:srgbClr val="000000"/>
                </a:solidFill>
                <a:effectLst/>
                <a:uFillTx/>
                <a:latin typeface="+mn-lt"/>
                <a:ea typeface="+mn-ea"/>
                <a:cs typeface="+mn-cs"/>
                <a:sym typeface="Arial"/>
              </a:rPr>
              <a:t>The predominant age range falls between </a:t>
            </a:r>
            <a:r>
              <a:rPr kumimoji="0" lang="en-GB" sz="1400" b="1" i="0" u="none" strike="noStrike" cap="none" spc="0" normalizeH="0" baseline="0" dirty="0">
                <a:ln>
                  <a:noFill/>
                </a:ln>
                <a:solidFill>
                  <a:srgbClr val="000000"/>
                </a:solidFill>
                <a:effectLst/>
                <a:uFillTx/>
                <a:latin typeface="+mn-lt"/>
                <a:ea typeface="+mn-ea"/>
                <a:cs typeface="+mn-cs"/>
                <a:sym typeface="Arial"/>
              </a:rPr>
              <a:t>40</a:t>
            </a:r>
            <a:r>
              <a:rPr lang="en-GB" b="1" dirty="0"/>
              <a:t> and 50</a:t>
            </a:r>
            <a:endParaRPr kumimoji="0" lang="en-GB" sz="1400" b="1" i="0" u="none" strike="noStrike" cap="none" spc="0" normalizeH="0" baseline="0" dirty="0">
              <a:ln>
                <a:noFill/>
              </a:ln>
              <a:solidFill>
                <a:srgbClr val="000000"/>
              </a:solidFill>
              <a:effectLst/>
              <a:uFillTx/>
              <a:latin typeface="+mn-lt"/>
              <a:ea typeface="+mn-ea"/>
              <a:cs typeface="+mn-cs"/>
              <a:sym typeface="Arial"/>
            </a:endParaRPr>
          </a:p>
        </p:txBody>
      </p:sp>
      <p:sp>
        <p:nvSpPr>
          <p:cNvPr id="9" name="TextBox 8">
            <a:extLst>
              <a:ext uri="{FF2B5EF4-FFF2-40B4-BE49-F238E27FC236}">
                <a16:creationId xmlns:a16="http://schemas.microsoft.com/office/drawing/2014/main" id="{DA08422E-7A46-7A4A-15F0-A026DDC5E9DB}"/>
              </a:ext>
            </a:extLst>
          </p:cNvPr>
          <p:cNvSpPr txBox="1"/>
          <p:nvPr/>
        </p:nvSpPr>
        <p:spPr>
          <a:xfrm>
            <a:off x="7411436" y="2571750"/>
            <a:ext cx="16844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GB" sz="1400" i="0" u="none" strike="noStrike" cap="none" spc="0" normalizeH="0" baseline="0" dirty="0">
                <a:ln>
                  <a:noFill/>
                </a:ln>
                <a:solidFill>
                  <a:srgbClr val="000000"/>
                </a:solidFill>
                <a:effectLst/>
                <a:uFillTx/>
                <a:latin typeface="+mn-lt"/>
                <a:ea typeface="+mn-ea"/>
                <a:cs typeface="+mn-cs"/>
                <a:sym typeface="Arial"/>
              </a:rPr>
              <a:t>The predominant age range falls between </a:t>
            </a:r>
            <a:r>
              <a:rPr kumimoji="0" lang="en-GB" sz="1400" b="1" i="0" u="none" strike="noStrike" cap="none" spc="0" normalizeH="0" baseline="0" dirty="0">
                <a:ln>
                  <a:noFill/>
                </a:ln>
                <a:solidFill>
                  <a:srgbClr val="000000"/>
                </a:solidFill>
                <a:effectLst/>
                <a:uFillTx/>
                <a:latin typeface="+mn-lt"/>
                <a:ea typeface="+mn-ea"/>
                <a:cs typeface="+mn-cs"/>
                <a:sym typeface="Arial"/>
              </a:rPr>
              <a:t>35 and 60</a:t>
            </a:r>
            <a:endParaRPr kumimoji="0" lang="en-GB" sz="1400" i="0" u="none" strike="noStrike" cap="none" spc="0" normalizeH="0" baseline="0" dirty="0">
              <a:ln>
                <a:noFill/>
              </a:ln>
              <a:solidFill>
                <a:srgbClr val="000000"/>
              </a:solidFill>
              <a:effectLst/>
              <a:uFillTx/>
              <a:latin typeface="+mn-lt"/>
              <a:ea typeface="+mn-ea"/>
              <a:cs typeface="+mn-cs"/>
              <a:sym typeface="Arial"/>
            </a:endParaRPr>
          </a:p>
        </p:txBody>
      </p:sp>
      <p:sp>
        <p:nvSpPr>
          <p:cNvPr id="10" name="Left Brace 9">
            <a:extLst>
              <a:ext uri="{FF2B5EF4-FFF2-40B4-BE49-F238E27FC236}">
                <a16:creationId xmlns:a16="http://schemas.microsoft.com/office/drawing/2014/main" id="{F3622E90-60AB-6358-CBC6-CC66FFD0E0E3}"/>
              </a:ext>
            </a:extLst>
          </p:cNvPr>
          <p:cNvSpPr/>
          <p:nvPr/>
        </p:nvSpPr>
        <p:spPr>
          <a:xfrm>
            <a:off x="1859187" y="1743520"/>
            <a:ext cx="113410" cy="2550695"/>
          </a:xfrm>
          <a:prstGeom prst="leftBrace">
            <a:avLst/>
          </a:pr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000000"/>
              </a:solidFill>
              <a:effectLst/>
              <a:uFillTx/>
            </a:endParaRPr>
          </a:p>
        </p:txBody>
      </p:sp>
      <p:sp>
        <p:nvSpPr>
          <p:cNvPr id="12" name="Left Brace 11">
            <a:extLst>
              <a:ext uri="{FF2B5EF4-FFF2-40B4-BE49-F238E27FC236}">
                <a16:creationId xmlns:a16="http://schemas.microsoft.com/office/drawing/2014/main" id="{0C5E6541-6647-6550-CAA3-830E03A03FC9}"/>
              </a:ext>
            </a:extLst>
          </p:cNvPr>
          <p:cNvSpPr/>
          <p:nvPr/>
        </p:nvSpPr>
        <p:spPr>
          <a:xfrm flipH="1">
            <a:off x="7343744" y="1743519"/>
            <a:ext cx="97949" cy="2502291"/>
          </a:xfrm>
          <a:prstGeom prst="leftBrace">
            <a:avLst/>
          </a:prstGeom>
          <a:ln/>
        </p:spPr>
        <p:style>
          <a:lnRef idx="1">
            <a:schemeClr val="dk1"/>
          </a:lnRef>
          <a:fillRef idx="0">
            <a:schemeClr val="dk1"/>
          </a:fillRef>
          <a:effectRef idx="0">
            <a:schemeClr val="dk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06970413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dirty="0"/>
              <a:t>Model Development</a:t>
            </a:r>
            <a:endParaRPr dirty="0"/>
          </a:p>
        </p:txBody>
      </p:sp>
      <p:sp>
        <p:nvSpPr>
          <p:cNvPr id="123" name="Shape 72"/>
          <p:cNvSpPr/>
          <p:nvPr/>
        </p:nvSpPr>
        <p:spPr>
          <a:xfrm>
            <a:off x="-2952764" y="102385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4" name="Shape 73"/>
          <p:cNvSpPr/>
          <p:nvPr/>
        </p:nvSpPr>
        <p:spPr>
          <a:xfrm>
            <a:off x="850022" y="3997979"/>
            <a:ext cx="3637594" cy="808394"/>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gn="ctr"/>
            <a:r>
              <a:rPr lang="en-GB" sz="1200" b="1" dirty="0"/>
              <a:t>4 groups were formed</a:t>
            </a:r>
          </a:p>
          <a:p>
            <a:pPr algn="ctr"/>
            <a:r>
              <a:rPr lang="en-GB" sz="1200" dirty="0"/>
              <a:t> Active customers, Good customers, Average Customers and Inactive customers</a:t>
            </a:r>
            <a:endParaRPr sz="1200" dirty="0"/>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9" name="Shape 81">
            <a:extLst>
              <a:ext uri="{FF2B5EF4-FFF2-40B4-BE49-F238E27FC236}">
                <a16:creationId xmlns:a16="http://schemas.microsoft.com/office/drawing/2014/main" id="{8F238F0B-3278-F8E0-F543-8E7C9574BB8B}"/>
              </a:ext>
            </a:extLst>
          </p:cNvPr>
          <p:cNvSpPr/>
          <p:nvPr/>
        </p:nvSpPr>
        <p:spPr>
          <a:xfrm>
            <a:off x="850022" y="1087323"/>
            <a:ext cx="2271753" cy="45002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RFM Plus Clustering</a:t>
            </a:r>
            <a:endParaRPr sz="1600" dirty="0"/>
          </a:p>
        </p:txBody>
      </p:sp>
      <p:sp>
        <p:nvSpPr>
          <p:cNvPr id="8" name="TextBox 7">
            <a:extLst>
              <a:ext uri="{FF2B5EF4-FFF2-40B4-BE49-F238E27FC236}">
                <a16:creationId xmlns:a16="http://schemas.microsoft.com/office/drawing/2014/main" id="{EA8826B6-456F-337C-3E5E-058CFA52A7DA}"/>
              </a:ext>
            </a:extLst>
          </p:cNvPr>
          <p:cNvSpPr txBox="1"/>
          <p:nvPr/>
        </p:nvSpPr>
        <p:spPr>
          <a:xfrm>
            <a:off x="4828673" y="1696563"/>
            <a:ext cx="4042609"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b="1" dirty="0"/>
              <a:t>Conclusions:</a:t>
            </a:r>
          </a:p>
          <a:p>
            <a:endParaRPr lang="en-GB" dirty="0"/>
          </a:p>
          <a:p>
            <a:r>
              <a:rPr lang="en-GB" dirty="0"/>
              <a:t>- The RFM Plus analysis has resulted in well-defined customer segments</a:t>
            </a:r>
          </a:p>
          <a:p>
            <a:endParaRPr lang="en-GB" dirty="0"/>
          </a:p>
          <a:p>
            <a:r>
              <a:rPr lang="en-GB" dirty="0"/>
              <a:t>- The number of customers is fairly distributed among the 4 categories but the last one (Inactive customers)</a:t>
            </a:r>
          </a:p>
        </p:txBody>
      </p:sp>
      <p:pic>
        <p:nvPicPr>
          <p:cNvPr id="11" name="Picture 10">
            <a:extLst>
              <a:ext uri="{FF2B5EF4-FFF2-40B4-BE49-F238E27FC236}">
                <a16:creationId xmlns:a16="http://schemas.microsoft.com/office/drawing/2014/main" id="{FE5BD70A-D947-38B2-BA8F-260294E66147}"/>
              </a:ext>
            </a:extLst>
          </p:cNvPr>
          <p:cNvPicPr>
            <a:picLocks noChangeAspect="1"/>
          </p:cNvPicPr>
          <p:nvPr/>
        </p:nvPicPr>
        <p:blipFill>
          <a:blip r:embed="rId2"/>
          <a:stretch>
            <a:fillRect/>
          </a:stretch>
        </p:blipFill>
        <p:spPr>
          <a:xfrm>
            <a:off x="670150" y="1646989"/>
            <a:ext cx="3997337" cy="2348154"/>
          </a:xfrm>
          <a:prstGeom prst="rect">
            <a:avLst/>
          </a:prstGeom>
        </p:spPr>
      </p:pic>
    </p:spTree>
    <p:extLst>
      <p:ext uri="{BB962C8B-B14F-4D97-AF65-F5344CB8AC3E}">
        <p14:creationId xmlns:p14="http://schemas.microsoft.com/office/powerpoint/2010/main" val="350369285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dirty="0"/>
              <a:t>Model Development</a:t>
            </a:r>
            <a:endParaRPr dirty="0"/>
          </a:p>
        </p:txBody>
      </p:sp>
      <p:sp>
        <p:nvSpPr>
          <p:cNvPr id="123" name="Shape 72"/>
          <p:cNvSpPr/>
          <p:nvPr/>
        </p:nvSpPr>
        <p:spPr>
          <a:xfrm>
            <a:off x="-2952764" y="102385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4" name="Shape 81">
            <a:extLst>
              <a:ext uri="{FF2B5EF4-FFF2-40B4-BE49-F238E27FC236}">
                <a16:creationId xmlns:a16="http://schemas.microsoft.com/office/drawing/2014/main" id="{0E128082-BA0B-D964-C4AB-6A5F9BF2CCC6}"/>
              </a:ext>
            </a:extLst>
          </p:cNvPr>
          <p:cNvSpPr/>
          <p:nvPr/>
        </p:nvSpPr>
        <p:spPr>
          <a:xfrm>
            <a:off x="717847" y="1057008"/>
            <a:ext cx="2335500" cy="45002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K-means Clustering</a:t>
            </a:r>
            <a:endParaRPr sz="1600" dirty="0"/>
          </a:p>
        </p:txBody>
      </p:sp>
      <p:sp>
        <p:nvSpPr>
          <p:cNvPr id="4" name="Shape 73">
            <a:extLst>
              <a:ext uri="{FF2B5EF4-FFF2-40B4-BE49-F238E27FC236}">
                <a16:creationId xmlns:a16="http://schemas.microsoft.com/office/drawing/2014/main" id="{E5458D53-9F95-81BC-3B01-6CAC5B540297}"/>
              </a:ext>
            </a:extLst>
          </p:cNvPr>
          <p:cNvSpPr/>
          <p:nvPr/>
        </p:nvSpPr>
        <p:spPr>
          <a:xfrm>
            <a:off x="745197" y="4188092"/>
            <a:ext cx="2934052" cy="433356"/>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algn="ctr"/>
            <a:r>
              <a:rPr lang="en-GB" dirty="0"/>
              <a:t>4 clusters were found</a:t>
            </a:r>
          </a:p>
        </p:txBody>
      </p:sp>
      <p:pic>
        <p:nvPicPr>
          <p:cNvPr id="5" name="Picture 4">
            <a:extLst>
              <a:ext uri="{FF2B5EF4-FFF2-40B4-BE49-F238E27FC236}">
                <a16:creationId xmlns:a16="http://schemas.microsoft.com/office/drawing/2014/main" id="{1D5B920F-C5A2-E6D3-573A-FCBE91BD3352}"/>
              </a:ext>
            </a:extLst>
          </p:cNvPr>
          <p:cNvPicPr>
            <a:picLocks noChangeAspect="1"/>
          </p:cNvPicPr>
          <p:nvPr/>
        </p:nvPicPr>
        <p:blipFill>
          <a:blip r:embed="rId2"/>
          <a:stretch>
            <a:fillRect/>
          </a:stretch>
        </p:blipFill>
        <p:spPr>
          <a:xfrm>
            <a:off x="486825" y="1657432"/>
            <a:ext cx="3339623" cy="2462209"/>
          </a:xfrm>
          <a:prstGeom prst="rect">
            <a:avLst/>
          </a:prstGeom>
        </p:spPr>
      </p:pic>
      <p:sp>
        <p:nvSpPr>
          <p:cNvPr id="6" name="Arrow: Right 5">
            <a:extLst>
              <a:ext uri="{FF2B5EF4-FFF2-40B4-BE49-F238E27FC236}">
                <a16:creationId xmlns:a16="http://schemas.microsoft.com/office/drawing/2014/main" id="{04017B56-7424-0C97-CB9B-839410268B96}"/>
              </a:ext>
            </a:extLst>
          </p:cNvPr>
          <p:cNvSpPr/>
          <p:nvPr/>
        </p:nvSpPr>
        <p:spPr>
          <a:xfrm>
            <a:off x="4145463" y="2438400"/>
            <a:ext cx="481263" cy="593558"/>
          </a:xfrm>
          <a:prstGeom prst="rightArrow">
            <a:avLst/>
          </a:prstGeom>
          <a:ln>
            <a:solidFill>
              <a:srgbClr val="0D5594"/>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a:ln>
                <a:noFill/>
              </a:ln>
              <a:solidFill>
                <a:srgbClr val="000000"/>
              </a:solidFill>
              <a:effectLst/>
              <a:uFillTx/>
              <a:latin typeface="+mn-lt"/>
              <a:ea typeface="+mn-ea"/>
              <a:cs typeface="+mn-cs"/>
              <a:sym typeface="Arial"/>
            </a:endParaRPr>
          </a:p>
        </p:txBody>
      </p:sp>
      <p:sp>
        <p:nvSpPr>
          <p:cNvPr id="2" name="TextBox 1">
            <a:extLst>
              <a:ext uri="{FF2B5EF4-FFF2-40B4-BE49-F238E27FC236}">
                <a16:creationId xmlns:a16="http://schemas.microsoft.com/office/drawing/2014/main" id="{B463A110-38E7-EBE8-77DC-5969C7DAE1D7}"/>
              </a:ext>
            </a:extLst>
          </p:cNvPr>
          <p:cNvSpPr txBox="1"/>
          <p:nvPr/>
        </p:nvSpPr>
        <p:spPr>
          <a:xfrm>
            <a:off x="4945740" y="2571750"/>
            <a:ext cx="3903579" cy="24622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1" i="0" u="none" strike="noStrike" cap="none" spc="0" normalizeH="0" baseline="0" dirty="0">
                <a:ln>
                  <a:noFill/>
                </a:ln>
                <a:solidFill>
                  <a:srgbClr val="000000"/>
                </a:solidFill>
                <a:effectLst/>
                <a:uFillTx/>
                <a:latin typeface="+mn-lt"/>
                <a:ea typeface="+mn-ea"/>
                <a:cs typeface="+mn-cs"/>
                <a:sym typeface="Arial"/>
              </a:rPr>
              <a:t>Conclusions </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Although there is a clear most valuable customer segment (cluster 2).</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Overlapping characteristics among segments makes it challenging to categorize customers into well-defined groups.</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The number of customers is relatively well-distributed among the clusters. </a:t>
            </a:r>
          </a:p>
        </p:txBody>
      </p:sp>
      <p:pic>
        <p:nvPicPr>
          <p:cNvPr id="7" name="Picture 6">
            <a:extLst>
              <a:ext uri="{FF2B5EF4-FFF2-40B4-BE49-F238E27FC236}">
                <a16:creationId xmlns:a16="http://schemas.microsoft.com/office/drawing/2014/main" id="{CFA0D781-160F-BD43-0110-8FBBB297C44E}"/>
              </a:ext>
            </a:extLst>
          </p:cNvPr>
          <p:cNvPicPr>
            <a:picLocks noChangeAspect="1"/>
          </p:cNvPicPr>
          <p:nvPr/>
        </p:nvPicPr>
        <p:blipFill>
          <a:blip r:embed="rId3"/>
          <a:stretch>
            <a:fillRect/>
          </a:stretch>
        </p:blipFill>
        <p:spPr>
          <a:xfrm>
            <a:off x="5317554" y="1012543"/>
            <a:ext cx="2846977" cy="1633256"/>
          </a:xfrm>
          <a:prstGeom prst="rect">
            <a:avLst/>
          </a:prstGeom>
        </p:spPr>
      </p:pic>
    </p:spTree>
    <p:extLst>
      <p:ext uri="{BB962C8B-B14F-4D97-AF65-F5344CB8AC3E}">
        <p14:creationId xmlns:p14="http://schemas.microsoft.com/office/powerpoint/2010/main" val="32559688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70"/>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22" name="Shape 71"/>
          <p:cNvSpPr/>
          <p:nvPr/>
        </p:nvSpPr>
        <p:spPr>
          <a:xfrm>
            <a:off x="205025" y="263974"/>
            <a:ext cx="8565600" cy="492410"/>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dirty="0"/>
              <a:t>Model Development</a:t>
            </a:r>
            <a:endParaRPr dirty="0"/>
          </a:p>
        </p:txBody>
      </p:sp>
      <p:sp>
        <p:nvSpPr>
          <p:cNvPr id="123" name="Shape 72"/>
          <p:cNvSpPr/>
          <p:nvPr/>
        </p:nvSpPr>
        <p:spPr>
          <a:xfrm>
            <a:off x="-2952764" y="1023859"/>
            <a:ext cx="8565600" cy="51632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endParaRPr dirty="0"/>
          </a:p>
        </p:txBody>
      </p:sp>
      <p:sp>
        <p:nvSpPr>
          <p:cNvPr id="128"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14" name="Shape 81">
            <a:extLst>
              <a:ext uri="{FF2B5EF4-FFF2-40B4-BE49-F238E27FC236}">
                <a16:creationId xmlns:a16="http://schemas.microsoft.com/office/drawing/2014/main" id="{0E128082-BA0B-D964-C4AB-6A5F9BF2CCC6}"/>
              </a:ext>
            </a:extLst>
          </p:cNvPr>
          <p:cNvSpPr/>
          <p:nvPr/>
        </p:nvSpPr>
        <p:spPr>
          <a:xfrm>
            <a:off x="717847" y="1057008"/>
            <a:ext cx="2303416" cy="45002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600" dirty="0"/>
              <a:t>K-</a:t>
            </a:r>
            <a:r>
              <a:rPr lang="en-GB" sz="1600" dirty="0" err="1"/>
              <a:t>Meloids</a:t>
            </a:r>
            <a:r>
              <a:rPr lang="en-GB" sz="1600" dirty="0"/>
              <a:t> Clustering</a:t>
            </a:r>
            <a:endParaRPr sz="1600" dirty="0"/>
          </a:p>
        </p:txBody>
      </p:sp>
      <p:sp>
        <p:nvSpPr>
          <p:cNvPr id="2" name="TextBox 1">
            <a:extLst>
              <a:ext uri="{FF2B5EF4-FFF2-40B4-BE49-F238E27FC236}">
                <a16:creationId xmlns:a16="http://schemas.microsoft.com/office/drawing/2014/main" id="{B463A110-38E7-EBE8-77DC-5969C7DAE1D7}"/>
              </a:ext>
            </a:extLst>
          </p:cNvPr>
          <p:cNvSpPr txBox="1"/>
          <p:nvPr/>
        </p:nvSpPr>
        <p:spPr>
          <a:xfrm>
            <a:off x="4711988" y="3168776"/>
            <a:ext cx="3722343"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However, the proximity of these values to other segments still poses challenges in precisely defining each cluster.</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-The number of customers is relatively well-distributed among the clusters. </a:t>
            </a:r>
          </a:p>
        </p:txBody>
      </p:sp>
      <p:pic>
        <p:nvPicPr>
          <p:cNvPr id="7" name="Picture 6">
            <a:extLst>
              <a:ext uri="{FF2B5EF4-FFF2-40B4-BE49-F238E27FC236}">
                <a16:creationId xmlns:a16="http://schemas.microsoft.com/office/drawing/2014/main" id="{3424A02A-0B13-48B7-3F55-13FCEEEE3411}"/>
              </a:ext>
            </a:extLst>
          </p:cNvPr>
          <p:cNvPicPr>
            <a:picLocks noChangeAspect="1"/>
          </p:cNvPicPr>
          <p:nvPr/>
        </p:nvPicPr>
        <p:blipFill>
          <a:blip r:embed="rId2"/>
          <a:stretch>
            <a:fillRect/>
          </a:stretch>
        </p:blipFill>
        <p:spPr>
          <a:xfrm>
            <a:off x="745197" y="1573001"/>
            <a:ext cx="7933582" cy="1307255"/>
          </a:xfrm>
          <a:prstGeom prst="rect">
            <a:avLst/>
          </a:prstGeom>
        </p:spPr>
      </p:pic>
      <p:sp>
        <p:nvSpPr>
          <p:cNvPr id="8" name="TextBox 7">
            <a:extLst>
              <a:ext uri="{FF2B5EF4-FFF2-40B4-BE49-F238E27FC236}">
                <a16:creationId xmlns:a16="http://schemas.microsoft.com/office/drawing/2014/main" id="{BEB5ECB5-45F2-20C6-8679-60C313E4A65A}"/>
              </a:ext>
            </a:extLst>
          </p:cNvPr>
          <p:cNvSpPr txBox="1"/>
          <p:nvPr/>
        </p:nvSpPr>
        <p:spPr>
          <a:xfrm>
            <a:off x="872299" y="2953332"/>
            <a:ext cx="3722343" cy="1815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1" i="0" u="none" strike="noStrike" cap="none" spc="0" normalizeH="0" baseline="0" dirty="0">
                <a:ln>
                  <a:noFill/>
                </a:ln>
                <a:solidFill>
                  <a:srgbClr val="000000"/>
                </a:solidFill>
                <a:effectLst/>
                <a:uFillTx/>
                <a:latin typeface="+mn-lt"/>
                <a:ea typeface="+mn-ea"/>
                <a:cs typeface="+mn-cs"/>
                <a:sym typeface="Arial"/>
              </a:rPr>
              <a:t>Conclusions </a:t>
            </a:r>
          </a:p>
          <a:p>
            <a:pPr marL="0" marR="0" indent="0" algn="l" defTabSz="914400" rtl="0" fontAlgn="auto" latinLnBrk="0" hangingPunct="0">
              <a:lnSpc>
                <a:spcPct val="100000"/>
              </a:lnSpc>
              <a:spcBef>
                <a:spcPts val="0"/>
              </a:spcBef>
              <a:spcAft>
                <a:spcPts val="0"/>
              </a:spcAft>
              <a:buClrTx/>
              <a:buSzTx/>
              <a:buFontTx/>
              <a:buNone/>
              <a:tabLst/>
            </a:pPr>
            <a:endParaRPr kumimoji="0" lang="en-GB" sz="1400" b="1"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All identified clusters exhibit heterogeneity within themselves.</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lang="en-GB" dirty="0"/>
              <a:t>T</a:t>
            </a:r>
            <a:r>
              <a:rPr kumimoji="0" lang="en-GB" sz="1400" b="0" i="0" u="none" strike="noStrike" cap="none" spc="0" normalizeH="0" baseline="0" dirty="0">
                <a:ln>
                  <a:noFill/>
                </a:ln>
                <a:solidFill>
                  <a:srgbClr val="000000"/>
                </a:solidFill>
                <a:effectLst/>
                <a:uFillTx/>
                <a:latin typeface="+mn-lt"/>
                <a:ea typeface="+mn-ea"/>
                <a:cs typeface="+mn-cs"/>
                <a:sym typeface="Arial"/>
              </a:rPr>
              <a:t>here is a more discernible understanding of segment distinctions compared to traditional k-means clustering</a:t>
            </a:r>
          </a:p>
        </p:txBody>
      </p:sp>
    </p:spTree>
    <p:extLst>
      <p:ext uri="{BB962C8B-B14F-4D97-AF65-F5344CB8AC3E}">
        <p14:creationId xmlns:p14="http://schemas.microsoft.com/office/powerpoint/2010/main" val="58987683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Model Development</a:t>
            </a:r>
          </a:p>
        </p:txBody>
      </p:sp>
      <p:sp>
        <p:nvSpPr>
          <p:cNvPr id="142" name="Shape 91"/>
          <p:cNvSpPr/>
          <p:nvPr/>
        </p:nvSpPr>
        <p:spPr>
          <a:xfrm>
            <a:off x="946995" y="1972049"/>
            <a:ext cx="4134600" cy="43685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1500">
                <a:latin typeface="Open Sans"/>
                <a:ea typeface="Open Sans"/>
                <a:cs typeface="Open Sans"/>
                <a:sym typeface="Open Sans"/>
              </a:defRPr>
            </a:lvl1pPr>
          </a:lstStyle>
          <a:p>
            <a:r>
              <a:rPr lang="en-GB" dirty="0"/>
              <a:t>	</a:t>
            </a:r>
            <a:endParaRPr dirty="0"/>
          </a:p>
        </p:txBody>
      </p:sp>
      <p:sp>
        <p:nvSpPr>
          <p:cNvPr id="146"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5" name="Shape 90">
            <a:extLst>
              <a:ext uri="{FF2B5EF4-FFF2-40B4-BE49-F238E27FC236}">
                <a16:creationId xmlns:a16="http://schemas.microsoft.com/office/drawing/2014/main" id="{3515ECFE-A1EF-CE4C-327E-6A98BB23E7E4}"/>
              </a:ext>
            </a:extLst>
          </p:cNvPr>
          <p:cNvSpPr/>
          <p:nvPr/>
        </p:nvSpPr>
        <p:spPr>
          <a:xfrm>
            <a:off x="904493" y="942429"/>
            <a:ext cx="8001514" cy="870271"/>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pPr algn="ctr"/>
            <a:r>
              <a:rPr lang="en-GB" b="0" dirty="0"/>
              <a:t>Snake Plot: to compare RFM Plus, K-means, and K-</a:t>
            </a:r>
            <a:r>
              <a:rPr lang="en-GB" b="0" dirty="0" err="1"/>
              <a:t>Meloids</a:t>
            </a:r>
            <a:r>
              <a:rPr lang="en-GB" b="0" dirty="0"/>
              <a:t> clusters and choose the one that groups the data better</a:t>
            </a:r>
            <a:endParaRPr b="0" dirty="0"/>
          </a:p>
        </p:txBody>
      </p:sp>
      <p:pic>
        <p:nvPicPr>
          <p:cNvPr id="7" name="Picture 6">
            <a:extLst>
              <a:ext uri="{FF2B5EF4-FFF2-40B4-BE49-F238E27FC236}">
                <a16:creationId xmlns:a16="http://schemas.microsoft.com/office/drawing/2014/main" id="{169450DF-1719-5841-275F-24B2D6F1342D}"/>
              </a:ext>
            </a:extLst>
          </p:cNvPr>
          <p:cNvPicPr>
            <a:picLocks noChangeAspect="1"/>
          </p:cNvPicPr>
          <p:nvPr/>
        </p:nvPicPr>
        <p:blipFill>
          <a:blip r:embed="rId2"/>
          <a:stretch>
            <a:fillRect/>
          </a:stretch>
        </p:blipFill>
        <p:spPr>
          <a:xfrm>
            <a:off x="402879" y="2348672"/>
            <a:ext cx="2826975" cy="1990067"/>
          </a:xfrm>
          <a:prstGeom prst="rect">
            <a:avLst/>
          </a:prstGeom>
        </p:spPr>
      </p:pic>
      <p:pic>
        <p:nvPicPr>
          <p:cNvPr id="8" name="Picture 7">
            <a:extLst>
              <a:ext uri="{FF2B5EF4-FFF2-40B4-BE49-F238E27FC236}">
                <a16:creationId xmlns:a16="http://schemas.microsoft.com/office/drawing/2014/main" id="{3BC94F39-724C-044E-35D1-C8B43DAB6B6B}"/>
              </a:ext>
            </a:extLst>
          </p:cNvPr>
          <p:cNvPicPr>
            <a:picLocks noChangeAspect="1"/>
          </p:cNvPicPr>
          <p:nvPr/>
        </p:nvPicPr>
        <p:blipFill>
          <a:blip r:embed="rId3"/>
          <a:stretch>
            <a:fillRect/>
          </a:stretch>
        </p:blipFill>
        <p:spPr>
          <a:xfrm>
            <a:off x="3320138" y="2348672"/>
            <a:ext cx="2780943" cy="1990067"/>
          </a:xfrm>
          <a:prstGeom prst="rect">
            <a:avLst/>
          </a:prstGeom>
        </p:spPr>
      </p:pic>
      <p:pic>
        <p:nvPicPr>
          <p:cNvPr id="3" name="Picture 2">
            <a:extLst>
              <a:ext uri="{FF2B5EF4-FFF2-40B4-BE49-F238E27FC236}">
                <a16:creationId xmlns:a16="http://schemas.microsoft.com/office/drawing/2014/main" id="{689067F0-2E23-3A4C-EA86-FBC3657FE3B6}"/>
              </a:ext>
            </a:extLst>
          </p:cNvPr>
          <p:cNvPicPr>
            <a:picLocks noChangeAspect="1"/>
          </p:cNvPicPr>
          <p:nvPr/>
        </p:nvPicPr>
        <p:blipFill>
          <a:blip r:embed="rId4"/>
          <a:stretch>
            <a:fillRect/>
          </a:stretch>
        </p:blipFill>
        <p:spPr>
          <a:xfrm>
            <a:off x="6250031" y="2348672"/>
            <a:ext cx="2735300" cy="1925532"/>
          </a:xfrm>
          <a:prstGeom prst="rect">
            <a:avLst/>
          </a:prstGeom>
        </p:spPr>
      </p:pic>
      <p:sp>
        <p:nvSpPr>
          <p:cNvPr id="4" name="TextBox 3">
            <a:extLst>
              <a:ext uri="{FF2B5EF4-FFF2-40B4-BE49-F238E27FC236}">
                <a16:creationId xmlns:a16="http://schemas.microsoft.com/office/drawing/2014/main" id="{6528EAB3-CD1A-EBD8-F470-063912BCB662}"/>
              </a:ext>
            </a:extLst>
          </p:cNvPr>
          <p:cNvSpPr txBox="1"/>
          <p:nvPr/>
        </p:nvSpPr>
        <p:spPr>
          <a:xfrm>
            <a:off x="3856738" y="1962900"/>
            <a:ext cx="1958845"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1" i="0" u="none" strike="noStrike" cap="none" spc="0" normalizeH="0" baseline="0" dirty="0">
                <a:ln>
                  <a:noFill/>
                </a:ln>
                <a:solidFill>
                  <a:srgbClr val="000000"/>
                </a:solidFill>
                <a:effectLst/>
                <a:uFillTx/>
                <a:latin typeface="+mn-lt"/>
                <a:ea typeface="+mn-ea"/>
                <a:cs typeface="+mn-cs"/>
                <a:sym typeface="Arial"/>
              </a:rPr>
              <a:t>K-means Clustering</a:t>
            </a:r>
          </a:p>
        </p:txBody>
      </p:sp>
      <p:sp>
        <p:nvSpPr>
          <p:cNvPr id="6" name="TextBox 5">
            <a:extLst>
              <a:ext uri="{FF2B5EF4-FFF2-40B4-BE49-F238E27FC236}">
                <a16:creationId xmlns:a16="http://schemas.microsoft.com/office/drawing/2014/main" id="{B892A110-81A2-C606-7407-B314E55E7C07}"/>
              </a:ext>
            </a:extLst>
          </p:cNvPr>
          <p:cNvSpPr txBox="1"/>
          <p:nvPr/>
        </p:nvSpPr>
        <p:spPr>
          <a:xfrm>
            <a:off x="1013678" y="1934604"/>
            <a:ext cx="1958845"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1" i="0" u="none" strike="noStrike" cap="none" spc="0" normalizeH="0" baseline="0" dirty="0">
                <a:ln>
                  <a:noFill/>
                </a:ln>
                <a:solidFill>
                  <a:srgbClr val="000000"/>
                </a:solidFill>
                <a:effectLst/>
                <a:uFillTx/>
                <a:latin typeface="+mn-lt"/>
                <a:ea typeface="+mn-ea"/>
                <a:cs typeface="+mn-cs"/>
                <a:sym typeface="Arial"/>
              </a:rPr>
              <a:t>RFM Plus Clustering</a:t>
            </a:r>
          </a:p>
        </p:txBody>
      </p:sp>
      <p:sp>
        <p:nvSpPr>
          <p:cNvPr id="9" name="TextBox 8">
            <a:extLst>
              <a:ext uri="{FF2B5EF4-FFF2-40B4-BE49-F238E27FC236}">
                <a16:creationId xmlns:a16="http://schemas.microsoft.com/office/drawing/2014/main" id="{7D46E4B6-2EFD-8925-2AEC-E3EBC24613EA}"/>
              </a:ext>
            </a:extLst>
          </p:cNvPr>
          <p:cNvSpPr txBox="1"/>
          <p:nvPr/>
        </p:nvSpPr>
        <p:spPr>
          <a:xfrm>
            <a:off x="6871064" y="1962900"/>
            <a:ext cx="182880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1" i="0" u="none" strike="noStrike" cap="none" spc="0" normalizeH="0" baseline="0" dirty="0">
                <a:ln>
                  <a:noFill/>
                </a:ln>
                <a:solidFill>
                  <a:srgbClr val="000000"/>
                </a:solidFill>
                <a:effectLst/>
                <a:uFillTx/>
                <a:latin typeface="+mn-lt"/>
                <a:ea typeface="+mn-ea"/>
                <a:cs typeface="+mn-cs"/>
                <a:sym typeface="Arial"/>
              </a:rPr>
              <a:t>K-</a:t>
            </a:r>
            <a:r>
              <a:rPr kumimoji="0" lang="en-GB" sz="1400" b="1" i="0" u="none" strike="noStrike" cap="none" spc="0" normalizeH="0" baseline="0" dirty="0" err="1">
                <a:ln>
                  <a:noFill/>
                </a:ln>
                <a:solidFill>
                  <a:srgbClr val="000000"/>
                </a:solidFill>
                <a:effectLst/>
                <a:uFillTx/>
                <a:latin typeface="+mn-lt"/>
                <a:ea typeface="+mn-ea"/>
                <a:cs typeface="+mn-cs"/>
                <a:sym typeface="Arial"/>
              </a:rPr>
              <a:t>Meloid</a:t>
            </a:r>
            <a:r>
              <a:rPr kumimoji="0" lang="en-GB" sz="1400" b="1" i="0" u="none" strike="noStrike" cap="none" spc="0" normalizeH="0" baseline="0" dirty="0">
                <a:ln>
                  <a:noFill/>
                </a:ln>
                <a:solidFill>
                  <a:srgbClr val="000000"/>
                </a:solidFill>
                <a:effectLst/>
                <a:uFillTx/>
                <a:latin typeface="+mn-lt"/>
                <a:ea typeface="+mn-ea"/>
                <a:cs typeface="+mn-cs"/>
                <a:sym typeface="Arial"/>
              </a:rPr>
              <a:t> Clustering</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88"/>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0" name="Shape 89"/>
          <p:cNvSpPr/>
          <p:nvPr/>
        </p:nvSpPr>
        <p:spPr>
          <a:xfrm>
            <a:off x="205025" y="263974"/>
            <a:ext cx="8565600" cy="466642"/>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defRPr sz="2000" b="1">
                <a:solidFill>
                  <a:srgbClr val="FFFFFF"/>
                </a:solidFill>
              </a:defRPr>
            </a:lvl1pPr>
          </a:lstStyle>
          <a:p>
            <a:r>
              <a:t>Model Development</a:t>
            </a:r>
          </a:p>
        </p:txBody>
      </p:sp>
      <p:sp>
        <p:nvSpPr>
          <p:cNvPr id="142" name="Shape 91"/>
          <p:cNvSpPr/>
          <p:nvPr/>
        </p:nvSpPr>
        <p:spPr>
          <a:xfrm>
            <a:off x="946995" y="1972049"/>
            <a:ext cx="4134600" cy="436851"/>
          </a:xfrm>
          <a:prstGeom prst="rect">
            <a:avLst/>
          </a:prstGeom>
          <a:ln w="12700">
            <a:miter lim="400000"/>
          </a:ln>
          <a:extLst>
            <a:ext uri="{C572A759-6A51-4108-AA02-DFA0A04FC94B}">
              <ma14:wrappingTextBoxFlag xmlns:ma14="http://schemas.microsoft.com/office/mac/drawingml/2011/main" xmlns="" val="1"/>
            </a:ext>
          </a:extLst>
        </p:spPr>
        <p:txBody>
          <a:bodyPr lIns="91424" tIns="91424" rIns="91424" bIns="91424">
            <a:spAutoFit/>
          </a:bodyPr>
          <a:lstStyle>
            <a:lvl1pPr>
              <a:lnSpc>
                <a:spcPct val="115000"/>
              </a:lnSpc>
              <a:defRPr sz="1500">
                <a:latin typeface="Open Sans"/>
                <a:ea typeface="Open Sans"/>
                <a:cs typeface="Open Sans"/>
                <a:sym typeface="Open Sans"/>
              </a:defRPr>
            </a:lvl1pPr>
          </a:lstStyle>
          <a:p>
            <a:r>
              <a:rPr lang="en-GB" dirty="0"/>
              <a:t>	</a:t>
            </a:r>
            <a:endParaRPr dirty="0"/>
          </a:p>
        </p:txBody>
      </p:sp>
      <p:sp>
        <p:nvSpPr>
          <p:cNvPr id="10" name="Oval 9">
            <a:extLst>
              <a:ext uri="{FF2B5EF4-FFF2-40B4-BE49-F238E27FC236}">
                <a16:creationId xmlns:a16="http://schemas.microsoft.com/office/drawing/2014/main" id="{6A5FE6F8-8491-D454-22A3-0935C748765C}"/>
              </a:ext>
            </a:extLst>
          </p:cNvPr>
          <p:cNvSpPr/>
          <p:nvPr/>
        </p:nvSpPr>
        <p:spPr>
          <a:xfrm>
            <a:off x="6702512" y="1406565"/>
            <a:ext cx="3549316" cy="3390854"/>
          </a:xfrm>
          <a:prstGeom prst="ellipse">
            <a:avLst/>
          </a:prstGeom>
          <a:solidFill>
            <a:srgbClr val="1073CA"/>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46"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ma14="http://schemas.microsoft.com/office/mac/drawingml/2011/main" xmlns=""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5" name="Shape 90">
            <a:extLst>
              <a:ext uri="{FF2B5EF4-FFF2-40B4-BE49-F238E27FC236}">
                <a16:creationId xmlns:a16="http://schemas.microsoft.com/office/drawing/2014/main" id="{3515ECFE-A1EF-CE4C-327E-6A98BB23E7E4}"/>
              </a:ext>
            </a:extLst>
          </p:cNvPr>
          <p:cNvSpPr/>
          <p:nvPr/>
        </p:nvSpPr>
        <p:spPr>
          <a:xfrm>
            <a:off x="419352" y="1372335"/>
            <a:ext cx="6283159" cy="2365744"/>
          </a:xfrm>
          <a:prstGeom prst="rect">
            <a:avLst/>
          </a:prstGeom>
          <a:ln w="12700">
            <a:miter lim="400000"/>
          </a:ln>
          <a:extLst>
            <a:ext uri="{C572A759-6A51-4108-AA02-DFA0A04FC94B}">
              <ma14:wrappingTextBoxFlag xmlns:ma14="http://schemas.microsoft.com/office/mac/drawingml/2011/main" xmlns="" val="1"/>
            </a:ext>
          </a:extLst>
        </p:spPr>
        <p:txBody>
          <a:bodyPr wrap="square" lIns="91424" tIns="91424" rIns="91424" bIns="91424">
            <a:spAutoFit/>
          </a:bodyPr>
          <a:lstStyle>
            <a:lvl1pPr>
              <a:lnSpc>
                <a:spcPct val="115000"/>
              </a:lnSpc>
              <a:defRPr sz="2000" b="1">
                <a:latin typeface="Open Sans"/>
                <a:ea typeface="Open Sans"/>
                <a:cs typeface="Open Sans"/>
                <a:sym typeface="Open Sans"/>
              </a:defRPr>
            </a:lvl1pPr>
          </a:lstStyle>
          <a:p>
            <a:r>
              <a:rPr lang="en-GB" sz="1400" dirty="0"/>
              <a:t>Conclusions</a:t>
            </a:r>
          </a:p>
          <a:p>
            <a:endParaRPr lang="en-GB" sz="1400" dirty="0"/>
          </a:p>
          <a:p>
            <a:endParaRPr lang="en-GB" sz="1200" b="0" dirty="0"/>
          </a:p>
          <a:p>
            <a:r>
              <a:rPr lang="en-GB" sz="1200" b="0" dirty="0"/>
              <a:t>- </a:t>
            </a:r>
            <a:r>
              <a:rPr lang="en-GB" sz="1200" dirty="0"/>
              <a:t>RFM Plus </a:t>
            </a:r>
            <a:r>
              <a:rPr lang="en-GB" sz="1200" b="0" dirty="0"/>
              <a:t>gives a greater segmentation of the clusters. </a:t>
            </a:r>
          </a:p>
          <a:p>
            <a:endParaRPr lang="en-GB" sz="1200" b="0" dirty="0"/>
          </a:p>
          <a:p>
            <a:r>
              <a:rPr lang="en-GB" sz="1200" b="0" dirty="0"/>
              <a:t>- Therefore, it will be the one used for the customer analysis </a:t>
            </a:r>
          </a:p>
          <a:p>
            <a:endParaRPr lang="en-GB" sz="1200" b="0" dirty="0"/>
          </a:p>
          <a:p>
            <a:r>
              <a:rPr lang="en-GB" sz="1200" b="0" dirty="0"/>
              <a:t>- With RFM Plus segmentation, we are going to create a customer profile for each segment and identify the characteristics of the high-value group. </a:t>
            </a:r>
          </a:p>
          <a:p>
            <a:endParaRPr lang="en-GB" sz="1200" b="0" dirty="0"/>
          </a:p>
        </p:txBody>
      </p:sp>
      <p:pic>
        <p:nvPicPr>
          <p:cNvPr id="2" name="Picture 2" descr="Annotation icon (png symbol) black">
            <a:extLst>
              <a:ext uri="{FF2B5EF4-FFF2-40B4-BE49-F238E27FC236}">
                <a16:creationId xmlns:a16="http://schemas.microsoft.com/office/drawing/2014/main" id="{D4518FD4-BD28-31CE-8921-1D02CFA601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91332" y="2116154"/>
            <a:ext cx="1971675" cy="1971675"/>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a16="http://schemas.microsoft.com/office/drawing/2014/main" id="{832EB17B-9E36-658C-8D48-6A5CB05E465E}"/>
              </a:ext>
            </a:extLst>
          </p:cNvPr>
          <p:cNvSpPr/>
          <p:nvPr/>
        </p:nvSpPr>
        <p:spPr>
          <a:xfrm>
            <a:off x="6491292" y="1311397"/>
            <a:ext cx="3760536" cy="3733086"/>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2386434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Interpretation</a:t>
            </a:r>
          </a:p>
        </p:txBody>
      </p:sp>
      <p:sp>
        <p:nvSpPr>
          <p:cNvPr id="150" name="Shape 99"/>
          <p:cNvSpPr/>
          <p:nvPr/>
        </p:nvSpPr>
        <p:spPr>
          <a:xfrm>
            <a:off x="471508" y="918667"/>
            <a:ext cx="8565600" cy="870271"/>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lnSpc>
                <a:spcPct val="115000"/>
              </a:lnSpc>
              <a:defRPr sz="2000" b="1">
                <a:latin typeface="Open Sans"/>
                <a:ea typeface="Open Sans"/>
                <a:cs typeface="Open Sans"/>
                <a:sym typeface="Open Sans"/>
              </a:defRPr>
            </a:lvl1pPr>
          </a:lstStyle>
          <a:p>
            <a:r>
              <a:rPr lang="en-GB" dirty="0"/>
              <a:t>Sprocket Central should focus on active customers who follow a high value demographic profile</a:t>
            </a:r>
            <a:endParaRPr dirty="0"/>
          </a:p>
        </p:txBody>
      </p:sp>
      <p:sp>
        <p:nvSpPr>
          <p:cNvPr id="151" name="Shape 100"/>
          <p:cNvSpPr/>
          <p:nvPr/>
        </p:nvSpPr>
        <p:spPr>
          <a:xfrm>
            <a:off x="241210" y="1943629"/>
            <a:ext cx="3496118" cy="2822472"/>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r>
              <a:rPr lang="en-GB" b="1" dirty="0"/>
              <a:t>Active Customers Profile</a:t>
            </a:r>
          </a:p>
          <a:p>
            <a:endParaRPr lang="en-GB" dirty="0"/>
          </a:p>
          <a:p>
            <a:pPr marL="285750" indent="-285750">
              <a:buFont typeface="Arial" panose="020B0604020202020204" pitchFamily="34" charset="0"/>
              <a:buChar char="•"/>
            </a:pPr>
            <a:r>
              <a:rPr lang="en-GB" dirty="0"/>
              <a:t>The majority of customers fall within the age range spanning from late 30s to the early 40s.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Gender distribution is fairly balanced, with a slight male predominance</a:t>
            </a:r>
          </a:p>
          <a:p>
            <a:endParaRPr lang="en-GB" dirty="0"/>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13" name="Picture 12">
            <a:extLst>
              <a:ext uri="{FF2B5EF4-FFF2-40B4-BE49-F238E27FC236}">
                <a16:creationId xmlns:a16="http://schemas.microsoft.com/office/drawing/2014/main" id="{91F11AC7-0F59-1970-1EC4-8A92BA16A3C5}"/>
              </a:ext>
            </a:extLst>
          </p:cNvPr>
          <p:cNvPicPr>
            <a:picLocks noChangeAspect="1"/>
          </p:cNvPicPr>
          <p:nvPr/>
        </p:nvPicPr>
        <p:blipFill>
          <a:blip r:embed="rId2"/>
          <a:stretch>
            <a:fillRect/>
          </a:stretch>
        </p:blipFill>
        <p:spPr>
          <a:xfrm>
            <a:off x="4046690" y="2012520"/>
            <a:ext cx="1726960" cy="2348168"/>
          </a:xfrm>
          <a:prstGeom prst="rect">
            <a:avLst/>
          </a:prstGeom>
        </p:spPr>
      </p:pic>
      <p:pic>
        <p:nvPicPr>
          <p:cNvPr id="15" name="Picture 14">
            <a:extLst>
              <a:ext uri="{FF2B5EF4-FFF2-40B4-BE49-F238E27FC236}">
                <a16:creationId xmlns:a16="http://schemas.microsoft.com/office/drawing/2014/main" id="{F1611D11-EC21-C8FB-1B3F-50C6C1500683}"/>
              </a:ext>
            </a:extLst>
          </p:cNvPr>
          <p:cNvPicPr>
            <a:picLocks noChangeAspect="1"/>
          </p:cNvPicPr>
          <p:nvPr/>
        </p:nvPicPr>
        <p:blipFill>
          <a:blip r:embed="rId3"/>
          <a:stretch>
            <a:fillRect/>
          </a:stretch>
        </p:blipFill>
        <p:spPr>
          <a:xfrm>
            <a:off x="5892512" y="2012520"/>
            <a:ext cx="3098800" cy="1879600"/>
          </a:xfrm>
          <a:prstGeom prst="rect">
            <a:avLst/>
          </a:prstGeom>
        </p:spPr>
      </p:pic>
    </p:spTree>
    <p:extLst>
      <p:ext uri="{BB962C8B-B14F-4D97-AF65-F5344CB8AC3E}">
        <p14:creationId xmlns:p14="http://schemas.microsoft.com/office/powerpoint/2010/main" val="361447411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Interpretation</a:t>
            </a:r>
          </a:p>
        </p:txBody>
      </p:sp>
      <p:sp>
        <p:nvSpPr>
          <p:cNvPr id="151" name="Shape 100"/>
          <p:cNvSpPr/>
          <p:nvPr/>
        </p:nvSpPr>
        <p:spPr>
          <a:xfrm>
            <a:off x="400634" y="1526140"/>
            <a:ext cx="3496118" cy="3353386"/>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marL="285750" indent="-285750">
              <a:buFont typeface="Arial" panose="020B0604020202020204" pitchFamily="34" charset="0"/>
              <a:buChar char="•"/>
            </a:pPr>
            <a:r>
              <a:rPr lang="en-GB" dirty="0"/>
              <a:t>They have spent an average of 1.19k dollars in Sprocket Central.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They have an average of 50 bikes related purchases in the past 3 years</a:t>
            </a:r>
          </a:p>
          <a:p>
            <a:endParaRPr lang="en-GB" dirty="0"/>
          </a:p>
          <a:p>
            <a:pPr marL="285750" indent="-285750">
              <a:buFont typeface="Arial" panose="020B0604020202020204" pitchFamily="34" charset="0"/>
              <a:buChar char="•"/>
            </a:pPr>
            <a:r>
              <a:rPr lang="en-GB" dirty="0"/>
              <a:t>They tend to be Mass and High Network customers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7" name="Picture 6">
            <a:extLst>
              <a:ext uri="{FF2B5EF4-FFF2-40B4-BE49-F238E27FC236}">
                <a16:creationId xmlns:a16="http://schemas.microsoft.com/office/drawing/2014/main" id="{3B960743-2A06-EA1C-2CBC-0B6EB523F712}"/>
              </a:ext>
            </a:extLst>
          </p:cNvPr>
          <p:cNvPicPr>
            <a:picLocks noChangeAspect="1"/>
          </p:cNvPicPr>
          <p:nvPr/>
        </p:nvPicPr>
        <p:blipFill>
          <a:blip r:embed="rId2"/>
          <a:stretch>
            <a:fillRect/>
          </a:stretch>
        </p:blipFill>
        <p:spPr>
          <a:xfrm>
            <a:off x="5656498" y="1557093"/>
            <a:ext cx="3201752" cy="2274563"/>
          </a:xfrm>
          <a:prstGeom prst="rect">
            <a:avLst/>
          </a:prstGeom>
        </p:spPr>
      </p:pic>
      <p:pic>
        <p:nvPicPr>
          <p:cNvPr id="9" name="Picture 8">
            <a:extLst>
              <a:ext uri="{FF2B5EF4-FFF2-40B4-BE49-F238E27FC236}">
                <a16:creationId xmlns:a16="http://schemas.microsoft.com/office/drawing/2014/main" id="{ECD1A445-C001-E9A3-0A11-0CC2F98176CA}"/>
              </a:ext>
            </a:extLst>
          </p:cNvPr>
          <p:cNvPicPr>
            <a:picLocks noChangeAspect="1"/>
          </p:cNvPicPr>
          <p:nvPr/>
        </p:nvPicPr>
        <p:blipFill>
          <a:blip r:embed="rId3"/>
          <a:stretch>
            <a:fillRect/>
          </a:stretch>
        </p:blipFill>
        <p:spPr>
          <a:xfrm>
            <a:off x="3896752" y="1527003"/>
            <a:ext cx="1678548" cy="2368916"/>
          </a:xfrm>
          <a:prstGeom prst="rect">
            <a:avLst/>
          </a:prstGeom>
        </p:spPr>
      </p:pic>
    </p:spTree>
    <p:extLst>
      <p:ext uri="{BB962C8B-B14F-4D97-AF65-F5344CB8AC3E}">
        <p14:creationId xmlns:p14="http://schemas.microsoft.com/office/powerpoint/2010/main" val="385623281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758742"/>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t>Interpretation</a:t>
            </a:r>
          </a:p>
        </p:txBody>
      </p:sp>
      <p:sp>
        <p:nvSpPr>
          <p:cNvPr id="151" name="Shape 100"/>
          <p:cNvSpPr/>
          <p:nvPr/>
        </p:nvSpPr>
        <p:spPr>
          <a:xfrm>
            <a:off x="287706" y="1881397"/>
            <a:ext cx="3496118" cy="2291557"/>
          </a:xfrm>
          <a:prstGeom prst="rect">
            <a:avLst/>
          </a:prstGeom>
          <a:ln w="12700">
            <a:miter lim="400000"/>
          </a:ln>
          <a:extLst>
            <a:ext uri="{C572A759-6A51-4108-AA02-DFA0A04FC94B}">
              <ma14:wrappingTextBoxFlag xmlns="" xmlns:ma14="http://schemas.microsoft.com/office/mac/drawingml/2011/main" val="1"/>
            </a:ext>
          </a:extLst>
        </p:spPr>
        <p:txBody>
          <a:bodyPr wrap="square" lIns="91424" tIns="91424" rIns="91424" bIns="91424">
            <a:spAutoFit/>
          </a:bodyPr>
          <a:lstStyle>
            <a:lvl1pPr>
              <a:lnSpc>
                <a:spcPct val="115000"/>
              </a:lnSpc>
              <a:defRPr sz="1500">
                <a:latin typeface="Open Sans"/>
                <a:ea typeface="Open Sans"/>
                <a:cs typeface="Open Sans"/>
                <a:sym typeface="Open Sans"/>
              </a:defRPr>
            </a:lvl1pPr>
          </a:lstStyle>
          <a:p>
            <a:pPr marL="285750" indent="-285750">
              <a:buFont typeface="Arial" panose="020B0604020202020204" pitchFamily="34" charset="0"/>
              <a:buChar char="•"/>
            </a:pPr>
            <a:r>
              <a:rPr lang="en-GB" dirty="0"/>
              <a:t>Job industries: Most of them come from the manufacturing and financial services</a:t>
            </a:r>
          </a:p>
          <a:p>
            <a:endParaRPr lang="en-GB" dirty="0"/>
          </a:p>
          <a:p>
            <a:pPr marL="285750" indent="-285750">
              <a:buFont typeface="Arial" panose="020B0604020202020204" pitchFamily="34" charset="0"/>
              <a:buChar char="•"/>
            </a:pPr>
            <a:r>
              <a:rPr lang="en-GB" dirty="0"/>
              <a:t>State: Most of them come from NSW and Victoria</a:t>
            </a:r>
          </a:p>
          <a:p>
            <a:pPr marL="285750" indent="-285750">
              <a:buFont typeface="Arial" panose="020B0604020202020204" pitchFamily="34" charset="0"/>
              <a:buChar char="•"/>
            </a:pPr>
            <a:endParaRPr lang="en-GB" dirty="0"/>
          </a:p>
          <a:p>
            <a:endParaRPr lang="en-GB" dirty="0"/>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pic>
        <p:nvPicPr>
          <p:cNvPr id="9" name="Picture 8">
            <a:extLst>
              <a:ext uri="{FF2B5EF4-FFF2-40B4-BE49-F238E27FC236}">
                <a16:creationId xmlns:a16="http://schemas.microsoft.com/office/drawing/2014/main" id="{29E400AC-06D4-A084-296E-55D5EDF548EE}"/>
              </a:ext>
            </a:extLst>
          </p:cNvPr>
          <p:cNvPicPr>
            <a:picLocks noChangeAspect="1"/>
          </p:cNvPicPr>
          <p:nvPr/>
        </p:nvPicPr>
        <p:blipFill>
          <a:blip r:embed="rId2"/>
          <a:stretch>
            <a:fillRect/>
          </a:stretch>
        </p:blipFill>
        <p:spPr>
          <a:xfrm>
            <a:off x="3854062" y="1441748"/>
            <a:ext cx="3167007" cy="2560787"/>
          </a:xfrm>
          <a:prstGeom prst="rect">
            <a:avLst/>
          </a:prstGeom>
        </p:spPr>
      </p:pic>
      <p:pic>
        <p:nvPicPr>
          <p:cNvPr id="11" name="Picture 10">
            <a:extLst>
              <a:ext uri="{FF2B5EF4-FFF2-40B4-BE49-F238E27FC236}">
                <a16:creationId xmlns:a16="http://schemas.microsoft.com/office/drawing/2014/main" id="{E68C37C1-1059-0133-3921-BC650104E941}"/>
              </a:ext>
            </a:extLst>
          </p:cNvPr>
          <p:cNvPicPr>
            <a:picLocks noChangeAspect="1"/>
          </p:cNvPicPr>
          <p:nvPr/>
        </p:nvPicPr>
        <p:blipFill>
          <a:blip r:embed="rId3"/>
          <a:stretch>
            <a:fillRect/>
          </a:stretch>
        </p:blipFill>
        <p:spPr>
          <a:xfrm>
            <a:off x="7139496" y="1441747"/>
            <a:ext cx="1716798" cy="2560787"/>
          </a:xfrm>
          <a:prstGeom prst="rect">
            <a:avLst/>
          </a:prstGeom>
        </p:spPr>
      </p:pic>
    </p:spTree>
    <p:extLst>
      <p:ext uri="{BB962C8B-B14F-4D97-AF65-F5344CB8AC3E}">
        <p14:creationId xmlns:p14="http://schemas.microsoft.com/office/powerpoint/2010/main" val="327705901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97"/>
          <p:cNvSpPr/>
          <p:nvPr/>
        </p:nvSpPr>
        <p:spPr>
          <a:xfrm>
            <a:off x="-15501" y="-19475"/>
            <a:ext cx="9191402" cy="840000"/>
          </a:xfrm>
          <a:prstGeom prst="rect">
            <a:avLst/>
          </a:prstGeom>
          <a:gradFill>
            <a:gsLst>
              <a:gs pos="0">
                <a:srgbClr val="1077D2"/>
              </a:gs>
              <a:gs pos="100000">
                <a:srgbClr val="093153"/>
              </a:gs>
            </a:gsLst>
            <a:lin ang="12000143"/>
          </a:gradFill>
          <a:ln w="12700">
            <a:miter lim="400000"/>
          </a:ln>
        </p:spPr>
        <p:txBody>
          <a:bodyPr lIns="45719" rIns="45719" anchor="ctr"/>
          <a:lstStyle/>
          <a:p>
            <a:endParaRPr/>
          </a:p>
        </p:txBody>
      </p:sp>
      <p:sp>
        <p:nvSpPr>
          <p:cNvPr id="149" name="Shape 98"/>
          <p:cNvSpPr/>
          <p:nvPr/>
        </p:nvSpPr>
        <p:spPr>
          <a:xfrm>
            <a:off x="205025" y="263974"/>
            <a:ext cx="8565600" cy="800187"/>
          </a:xfrm>
          <a:prstGeom prst="rect">
            <a:avLst/>
          </a:prstGeom>
          <a:ln w="12700">
            <a:miter lim="400000"/>
          </a:ln>
          <a:extLst>
            <a:ext uri="{C572A759-6A51-4108-AA02-DFA0A04FC94B}">
              <ma14:wrappingTextBoxFlag xmlns="" xmlns:ma14="http://schemas.microsoft.com/office/mac/drawingml/2011/main" val="1"/>
            </a:ext>
          </a:extLst>
        </p:spPr>
        <p:txBody>
          <a:bodyPr lIns="91424" tIns="91424" rIns="91424" bIns="91424">
            <a:spAutoFit/>
          </a:bodyPr>
          <a:lstStyle>
            <a:lvl1pPr>
              <a:defRPr sz="2000" b="1">
                <a:solidFill>
                  <a:srgbClr val="FFFFFF"/>
                </a:solidFill>
              </a:defRPr>
            </a:lvl1pPr>
          </a:lstStyle>
          <a:p>
            <a:r>
              <a:rPr lang="en-GB" b="1" dirty="0"/>
              <a:t>Recommendations</a:t>
            </a:r>
          </a:p>
          <a:p>
            <a:endParaRPr dirty="0"/>
          </a:p>
        </p:txBody>
      </p:sp>
      <p:sp>
        <p:nvSpPr>
          <p:cNvPr id="155" name="Note: The data and information in this document is reflective of a hypothetical situation and client. This document is to be used for KPMG Virtual Internship purposes only."/>
          <p:cNvSpPr/>
          <p:nvPr/>
        </p:nvSpPr>
        <p:spPr>
          <a:xfrm>
            <a:off x="-6201" y="-6350"/>
            <a:ext cx="9175601" cy="238700"/>
          </a:xfrm>
          <a:prstGeom prst="rect">
            <a:avLst/>
          </a:prstGeom>
          <a:solidFill>
            <a:schemeClr val="accent3"/>
          </a:solidFill>
          <a:ln w="12700">
            <a:miter lim="400000"/>
          </a:ln>
          <a:extLst>
            <a:ext uri="{C572A759-6A51-4108-AA02-DFA0A04FC94B}">
              <ma14:wrappingTextBoxFlag xmlns="" xmlns:ma14="http://schemas.microsoft.com/office/mac/drawingml/2011/main" val="1"/>
            </a:ext>
          </a:extLst>
        </p:spPr>
        <p:txBody>
          <a:bodyPr lIns="45719" rIns="45719" anchor="ctr"/>
          <a:lstStyle/>
          <a:p>
            <a:pPr defTabSz="457200">
              <a:defRPr sz="500" b="1">
                <a:latin typeface="Calibri"/>
                <a:ea typeface="Calibri"/>
                <a:cs typeface="Calibri"/>
                <a:sym typeface="Calibri"/>
              </a:defRPr>
            </a:pPr>
            <a:r>
              <a:t>       Note: </a:t>
            </a:r>
            <a:r>
              <a:rPr b="0"/>
              <a:t>The data and information in this document is reflective of a hypothetical situation and client. This document is to be used for KPMG Virtual Internship purposes only. </a:t>
            </a:r>
          </a:p>
        </p:txBody>
      </p:sp>
      <p:sp>
        <p:nvSpPr>
          <p:cNvPr id="2" name="TextBox 1">
            <a:extLst>
              <a:ext uri="{FF2B5EF4-FFF2-40B4-BE49-F238E27FC236}">
                <a16:creationId xmlns:a16="http://schemas.microsoft.com/office/drawing/2014/main" id="{657A438E-B4CE-8EE5-E994-4C051A497C4D}"/>
              </a:ext>
            </a:extLst>
          </p:cNvPr>
          <p:cNvSpPr txBox="1"/>
          <p:nvPr/>
        </p:nvSpPr>
        <p:spPr>
          <a:xfrm>
            <a:off x="373375" y="936315"/>
            <a:ext cx="8220292" cy="3970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kumimoji="0" lang="en-GB" sz="1400" b="1" i="0" u="none" strike="noStrike" cap="none" spc="0" normalizeH="0" baseline="0" dirty="0">
                <a:ln>
                  <a:noFill/>
                </a:ln>
                <a:solidFill>
                  <a:srgbClr val="000000"/>
                </a:solidFill>
                <a:effectLst/>
                <a:uFillTx/>
                <a:latin typeface="+mn-lt"/>
                <a:ea typeface="+mn-ea"/>
                <a:cs typeface="+mn-cs"/>
                <a:sym typeface="Arial"/>
              </a:rPr>
              <a:t>Target Both Genders: </a:t>
            </a:r>
            <a:r>
              <a:rPr kumimoji="0" lang="en-GB" sz="1400" b="0" i="0" u="none" strike="noStrike" cap="none" spc="0" normalizeH="0" baseline="0" dirty="0">
                <a:ln>
                  <a:noFill/>
                </a:ln>
                <a:solidFill>
                  <a:srgbClr val="000000"/>
                </a:solidFill>
                <a:effectLst/>
                <a:uFillTx/>
                <a:latin typeface="+mn-lt"/>
                <a:ea typeface="+mn-ea"/>
                <a:cs typeface="+mn-cs"/>
                <a:sym typeface="Arial"/>
              </a:rPr>
              <a:t>Develop marketing campaigns that target both genders, but consider a slight emphasis on male-focused campaigns since they represent a slightly larger active customer segment.</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kumimoji="0" lang="en-GB" sz="1400" b="1" i="0" u="none" strike="noStrike" cap="none" spc="0" normalizeH="0" baseline="0" dirty="0">
                <a:ln>
                  <a:noFill/>
                </a:ln>
                <a:solidFill>
                  <a:srgbClr val="000000"/>
                </a:solidFill>
                <a:effectLst/>
                <a:uFillTx/>
                <a:latin typeface="+mn-lt"/>
                <a:ea typeface="+mn-ea"/>
                <a:cs typeface="+mn-cs"/>
                <a:sym typeface="Arial"/>
              </a:rPr>
              <a:t>Prioritize Past Bike Purchasers: </a:t>
            </a:r>
            <a:r>
              <a:rPr kumimoji="0" lang="en-GB" sz="1400" b="0" i="0" u="none" strike="noStrike" cap="none" spc="0" normalizeH="0" baseline="0" dirty="0">
                <a:ln>
                  <a:noFill/>
                </a:ln>
                <a:solidFill>
                  <a:srgbClr val="000000"/>
                </a:solidFill>
                <a:effectLst/>
                <a:uFillTx/>
                <a:latin typeface="+mn-lt"/>
                <a:ea typeface="+mn-ea"/>
                <a:cs typeface="+mn-cs"/>
                <a:sym typeface="Arial"/>
              </a:rPr>
              <a:t>Focus your marketing efforts on customers who have a history of purchasing bikes related products. Implement strategies to retain these customers and encourage repeat purchases.</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kumimoji="0" lang="en-GB" sz="1400" b="1" i="0" u="none" strike="noStrike" cap="none" spc="0" normalizeH="0" baseline="0" dirty="0">
                <a:ln>
                  <a:noFill/>
                </a:ln>
                <a:solidFill>
                  <a:srgbClr val="000000"/>
                </a:solidFill>
                <a:effectLst/>
                <a:uFillTx/>
                <a:latin typeface="+mn-lt"/>
                <a:ea typeface="+mn-ea"/>
                <a:cs typeface="+mn-cs"/>
                <a:sym typeface="Arial"/>
              </a:rPr>
              <a:t>Leverage Job Industries: </a:t>
            </a:r>
            <a:r>
              <a:rPr kumimoji="0" lang="en-GB" sz="1400" b="0" i="0" u="none" strike="noStrike" cap="none" spc="0" normalizeH="0" baseline="0" dirty="0">
                <a:ln>
                  <a:noFill/>
                </a:ln>
                <a:solidFill>
                  <a:srgbClr val="000000"/>
                </a:solidFill>
                <a:effectLst/>
                <a:uFillTx/>
                <a:latin typeface="+mn-lt"/>
                <a:ea typeface="+mn-ea"/>
                <a:cs typeface="+mn-cs"/>
                <a:sym typeface="Arial"/>
              </a:rPr>
              <a:t>Create tailored marketing campaigns for customers working in manufacturing, financial services, and health job industries. Highlight how your products align with their needs and preferences.</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kumimoji="0" lang="en-GB" sz="1400" b="1" i="0" u="none" strike="noStrike" cap="none" spc="0" normalizeH="0" baseline="0" dirty="0">
                <a:ln>
                  <a:noFill/>
                </a:ln>
                <a:solidFill>
                  <a:srgbClr val="000000"/>
                </a:solidFill>
                <a:effectLst/>
                <a:uFillTx/>
                <a:latin typeface="+mn-lt"/>
                <a:ea typeface="+mn-ea"/>
                <a:cs typeface="+mn-cs"/>
                <a:sym typeface="Arial"/>
              </a:rPr>
              <a:t>Expand Geographic Reach: </a:t>
            </a:r>
            <a:r>
              <a:rPr kumimoji="0" lang="en-GB" sz="1400" b="0" i="0" u="none" strike="noStrike" cap="none" spc="0" normalizeH="0" baseline="0" dirty="0">
                <a:ln>
                  <a:noFill/>
                </a:ln>
                <a:solidFill>
                  <a:srgbClr val="000000"/>
                </a:solidFill>
                <a:effectLst/>
                <a:uFillTx/>
                <a:latin typeface="+mn-lt"/>
                <a:ea typeface="+mn-ea"/>
                <a:cs typeface="+mn-cs"/>
                <a:sym typeface="Arial"/>
              </a:rPr>
              <a:t>Expand your market presence beyond NSW to tap into new customer bases. Consider opportunities to expand stores in Victoria as it has the second highest number of customers in the high value customers' segment.</a:t>
            </a:r>
          </a:p>
          <a:p>
            <a:pPr marL="0" marR="0" indent="0" algn="l" defTabSz="914400" rtl="0" fontAlgn="auto" latinLnBrk="0" hangingPunct="0">
              <a:lnSpc>
                <a:spcPct val="100000"/>
              </a:lnSpc>
              <a:spcBef>
                <a:spcPts val="0"/>
              </a:spcBef>
              <a:spcAft>
                <a:spcPts val="0"/>
              </a:spcAft>
              <a:buClrTx/>
              <a:buSzTx/>
              <a:buFontTx/>
              <a:buNone/>
              <a:tabLst/>
            </a:pPr>
            <a:endParaRPr kumimoji="0" lang="en-GB" sz="1400" b="0" i="0" u="none" strike="noStrike" cap="none" spc="0" normalizeH="0" baseline="0" dirty="0">
              <a:ln>
                <a:noFill/>
              </a:ln>
              <a:solidFill>
                <a:srgbClr val="000000"/>
              </a:solidFill>
              <a:effectLst/>
              <a:uFillTx/>
              <a:latin typeface="+mn-lt"/>
              <a:ea typeface="+mn-ea"/>
              <a:cs typeface="+mn-cs"/>
              <a:sym typeface="Arial"/>
            </a:endParaRPr>
          </a:p>
          <a:p>
            <a:pPr marL="0" marR="0" indent="0" algn="l" defTabSz="914400" rtl="0" fontAlgn="auto" latinLnBrk="0" hangingPunct="0">
              <a:lnSpc>
                <a:spcPct val="100000"/>
              </a:lnSpc>
              <a:spcBef>
                <a:spcPts val="0"/>
              </a:spcBef>
              <a:spcAft>
                <a:spcPts val="0"/>
              </a:spcAft>
              <a:buClrTx/>
              <a:buSzTx/>
              <a:buFontTx/>
              <a:buNone/>
              <a:tabLst/>
            </a:pPr>
            <a:r>
              <a:rPr kumimoji="0" lang="en-GB" sz="1400" b="0" i="0" u="none" strike="noStrike" cap="none" spc="0" normalizeH="0" baseline="0" dirty="0">
                <a:ln>
                  <a:noFill/>
                </a:ln>
                <a:solidFill>
                  <a:srgbClr val="000000"/>
                </a:solidFill>
                <a:effectLst/>
                <a:uFillTx/>
                <a:latin typeface="+mn-lt"/>
                <a:ea typeface="+mn-ea"/>
                <a:cs typeface="+mn-cs"/>
                <a:sym typeface="Arial"/>
              </a:rPr>
              <a:t>- </a:t>
            </a:r>
            <a:r>
              <a:rPr kumimoji="0" lang="en-GB" sz="1400" b="1" i="0" u="none" strike="noStrike" cap="none" spc="0" normalizeH="0" baseline="0" dirty="0">
                <a:ln>
                  <a:noFill/>
                </a:ln>
                <a:solidFill>
                  <a:srgbClr val="000000"/>
                </a:solidFill>
                <a:effectLst/>
                <a:uFillTx/>
                <a:latin typeface="+mn-lt"/>
                <a:ea typeface="+mn-ea"/>
                <a:cs typeface="+mn-cs"/>
                <a:sym typeface="Arial"/>
              </a:rPr>
              <a:t>Age-Targeted Marketing: </a:t>
            </a:r>
            <a:r>
              <a:rPr kumimoji="0" lang="en-GB" sz="1400" b="0" i="0" u="none" strike="noStrike" cap="none" spc="0" normalizeH="0" baseline="0" dirty="0">
                <a:ln>
                  <a:noFill/>
                </a:ln>
                <a:solidFill>
                  <a:srgbClr val="000000"/>
                </a:solidFill>
                <a:effectLst/>
                <a:uFillTx/>
                <a:latin typeface="+mn-lt"/>
                <a:ea typeface="+mn-ea"/>
                <a:cs typeface="+mn-cs"/>
                <a:sym typeface="Arial"/>
              </a:rPr>
              <a:t>Customize marketing initiatives to appeal to different age groups. Prioritize customers aged 30-40 as your primary demographic, followed by those aged 40-50. Craft messaging and promotions that resonate with these age brackets.</a:t>
            </a:r>
          </a:p>
        </p:txBody>
      </p:sp>
    </p:spTree>
    <p:extLst>
      <p:ext uri="{BB962C8B-B14F-4D97-AF65-F5344CB8AC3E}">
        <p14:creationId xmlns:p14="http://schemas.microsoft.com/office/powerpoint/2010/main" val="1248687481"/>
      </p:ext>
    </p:extLst>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2864</TotalTime>
  <Words>1121</Words>
  <Application>Microsoft Office PowerPoint</Application>
  <PresentationFormat>On-screen Show (16:9)</PresentationFormat>
  <Paragraphs>111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DM Sans</vt:lpstr>
      <vt:lpstr>Open Sans</vt:lpstr>
      <vt:lpstr>Open Sans ExtraBold</vt:lpstr>
      <vt:lpstr>Open Sans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nicole chuquilin</cp:lastModifiedBy>
  <cp:revision>8</cp:revision>
  <dcterms:modified xsi:type="dcterms:W3CDTF">2023-09-18T03:10:55Z</dcterms:modified>
</cp:coreProperties>
</file>